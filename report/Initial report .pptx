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ppt/tags/tag39.xml" ContentType="application/vnd.openxmlformats-officedocument.presentationml.tags+xml"/>
  <Override PartName="/ppt/notesSlides/notesSlide4.xml" ContentType="application/vnd.openxmlformats-officedocument.presentationml.notesSlide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ppt/tags/tag42.xml" ContentType="application/vnd.openxmlformats-officedocument.presentationml.tags+xml"/>
  <Override PartName="/ppt/notesSlides/notesSlide7.xml" ContentType="application/vnd.openxmlformats-officedocument.presentationml.notesSlide+xml"/>
  <Override PartName="/ppt/tags/tag43.xml" ContentType="application/vnd.openxmlformats-officedocument.presentationml.tags+xml"/>
  <Override PartName="/ppt/notesSlides/notesSlide8.xml" ContentType="application/vnd.openxmlformats-officedocument.presentationml.notesSlide+xml"/>
  <Override PartName="/ppt/tags/tag44.xml" ContentType="application/vnd.openxmlformats-officedocument.presentationml.tags+xml"/>
  <Override PartName="/ppt/notesSlides/notesSlide9.xml" ContentType="application/vnd.openxmlformats-officedocument.presentationml.notesSlide+xml"/>
  <Override PartName="/ppt/tags/tag45.xml" ContentType="application/vnd.openxmlformats-officedocument.presentationml.tags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notesSlides/notesSlide11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12.xml" ContentType="application/vnd.openxmlformats-officedocument.presentationml.notesSlide+xml"/>
  <Override PartName="/ppt/tags/tag158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21"/>
  </p:notesMasterIdLst>
  <p:handoutMasterIdLst>
    <p:handoutMasterId r:id="rId22"/>
  </p:handoutMasterIdLst>
  <p:sldIdLst>
    <p:sldId id="355" r:id="rId8"/>
    <p:sldId id="439" r:id="rId9"/>
    <p:sldId id="488" r:id="rId10"/>
    <p:sldId id="489" r:id="rId11"/>
    <p:sldId id="497" r:id="rId12"/>
    <p:sldId id="491" r:id="rId13"/>
    <p:sldId id="492" r:id="rId14"/>
    <p:sldId id="498" r:id="rId15"/>
    <p:sldId id="494" r:id="rId16"/>
    <p:sldId id="495" r:id="rId17"/>
    <p:sldId id="485" r:id="rId18"/>
    <p:sldId id="496" r:id="rId19"/>
    <p:sldId id="356" r:id="rId20"/>
  </p:sldIdLst>
  <p:sldSz cx="9144000" cy="5143500" type="screen16x9"/>
  <p:notesSz cx="9925050" cy="6665913"/>
  <p:custDataLst>
    <p:tags r:id="rId23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005293"/>
    <a:srgbClr val="FF2600"/>
    <a:srgbClr val="98C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0" autoAdjust="0"/>
    <p:restoredTop sz="88095" autoAdjust="0"/>
  </p:normalViewPr>
  <p:slideViewPr>
    <p:cSldViewPr snapToGrid="0">
      <p:cViewPr varScale="1">
        <p:scale>
          <a:sx n="136" d="100"/>
          <a:sy n="136" d="100"/>
        </p:scale>
        <p:origin x="832" y="184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gs" Target="tags/tag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06/12/2025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US" smtClean="0"/>
              <a:pPr>
                <a:defRPr/>
              </a:pPr>
              <a:t>12/6/25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Let's begin with the outline. I'll start with an introduction, followed by detailed explanations of Observer-Based Methods and Switching-State-Based Methods, including a simulation study. Finally, I'll provide a comparison of these methods, discuss future research directions, and conclude with a summary.</a:t>
            </a: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307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412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06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A8A4-1195-53F6-32B4-760EE936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8B86A0-D56F-58F6-67FF-6F7646BD9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56FF79-2E25-8540-C81F-9F712FE03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Let's begin with the outline. I'll start with an introduction, followed by detailed explanations of Observer-Based Methods and Switching-State-Based Methods, including a simulation study. Finally, I'll provide a comparison of these methods, discuss future research directions, and conclude with a summary.</a:t>
            </a: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D3AC11-83D8-546C-809F-5DC3F5822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32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983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65B3-1C20-E986-7AA6-26BA450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F31767-567D-C468-B6DA-9BC59F83B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7CCC27-2B17-BDB6-E7F7-26E451BE7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A23E05-FF62-D715-BDC8-F36023C02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730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352D-377F-06C7-FD2A-93A606DBD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C8353A-7521-283D-DA45-DF1F048A4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A48F7D-76D9-F98E-3D7E-BB1F04145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Let's begin with the outline. I'll start with an introduction, followed by detailed explanations of Observer-Based Methods and Switching-State-Based Methods, including a simulation study. Finally, I'll provide a comparison of these methods, discuss future research directions, and conclude with a summary.</a:t>
            </a: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3F9B3E-0807-79B1-1AB9-56E48F4E0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485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A318-4337-8C8C-0D90-B49995CE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5D79D2-7695-44F6-9F9D-CF8E4C8FF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9F2142-13F9-7E27-2857-F8223CD57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747573-DB75-A165-2D68-ED16B87E8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552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8209-B09A-46CE-367C-08609D877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77964F-12D4-D481-7E58-A4A33DFE8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72BC00-BD08-CE83-10AD-D0BE3C52E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47B0B8-C333-E726-0018-73FF0140D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71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2FA9-ED51-58FD-EDF7-2A422069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B4E18D-628E-840E-EF1C-7DCF855A4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D6AE91-216A-C018-C966-B1BDF8074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52F8F7-C9A2-64DF-19E8-CD521DD79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149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57EB-64D4-C5AA-F97D-0A6FD4AC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80AF50-EB7B-4EBF-F2F7-8D4A6BD72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C71907-A378-AB2E-D841-04407AF9C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D34307-8CA3-803A-FE76-4B18AECA5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024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That concludes my presentation. Thank you very much for your attention. I’d be happy to take any questions.</a:t>
            </a:r>
            <a:r>
              <a:rPr lang="zh-CN" altLang="en-US"/>
              <a:t>加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83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4" Type="http://schemas.openxmlformats.org/officeDocument/2006/relationships/image" Target="../media/image1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4" Type="http://schemas.openxmlformats.org/officeDocument/2006/relationships/image" Target="../media/image1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1.xml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2.xml"/><Relationship Id="rId5" Type="http://schemas.openxmlformats.org/officeDocument/2006/relationships/image" Target="../media/image5.jpeg"/><Relationship Id="rId4" Type="http://schemas.openxmlformats.org/officeDocument/2006/relationships/image" Target="../media/image1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4.xml"/><Relationship Id="rId4" Type="http://schemas.openxmlformats.org/officeDocument/2006/relationships/image" Target="../media/image17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5.xml"/><Relationship Id="rId4" Type="http://schemas.openxmlformats.org/officeDocument/2006/relationships/image" Target="../media/image18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6.xml"/><Relationship Id="rId4" Type="http://schemas.openxmlformats.org/officeDocument/2006/relationships/image" Target="../media/image1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7.xml"/><Relationship Id="rId4" Type="http://schemas.openxmlformats.org/officeDocument/2006/relationships/image" Target="../media/image20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8.xml"/><Relationship Id="rId4" Type="http://schemas.openxmlformats.org/officeDocument/2006/relationships/image" Target="../media/image2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9.xml"/><Relationship Id="rId4" Type="http://schemas.openxmlformats.org/officeDocument/2006/relationships/image" Target="../media/image2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0.xml"/><Relationship Id="rId4" Type="http://schemas.openxmlformats.org/officeDocument/2006/relationships/image" Target="../media/image2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1.xml"/><Relationship Id="rId4" Type="http://schemas.openxmlformats.org/officeDocument/2006/relationships/image" Target="../media/image2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2.xml"/><Relationship Id="rId4" Type="http://schemas.openxmlformats.org/officeDocument/2006/relationships/image" Target="../media/image25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3.xml"/><Relationship Id="rId4" Type="http://schemas.openxmlformats.org/officeDocument/2006/relationships/image" Target="../media/image2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4.xml"/><Relationship Id="rId4" Type="http://schemas.openxmlformats.org/officeDocument/2006/relationships/image" Target="../media/image27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5.xml"/><Relationship Id="rId4" Type="http://schemas.openxmlformats.org/officeDocument/2006/relationships/image" Target="../media/image28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6.xml"/><Relationship Id="rId4" Type="http://schemas.openxmlformats.org/officeDocument/2006/relationships/image" Target="../media/image29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7.xml"/><Relationship Id="rId4" Type="http://schemas.openxmlformats.org/officeDocument/2006/relationships/image" Target="../media/image30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8.xml"/><Relationship Id="rId4" Type="http://schemas.openxmlformats.org/officeDocument/2006/relationships/image" Target="../media/image3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9.xml"/><Relationship Id="rId4" Type="http://schemas.openxmlformats.org/officeDocument/2006/relationships/image" Target="../media/image32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0.xml"/><Relationship Id="rId4" Type="http://schemas.openxmlformats.org/officeDocument/2006/relationships/image" Target="../media/image3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1.xml"/><Relationship Id="rId4" Type="http://schemas.openxmlformats.org/officeDocument/2006/relationships/image" Target="../media/image34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33.xml"/><Relationship Id="rId4" Type="http://schemas.openxmlformats.org/officeDocument/2006/relationships/image" Target="../media/image36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35.xml"/><Relationship Id="rId4" Type="http://schemas.openxmlformats.org/officeDocument/2006/relationships/image" Target="../media/image3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F6A9C51-9A7E-7150-8B1D-0DE861BF5B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64463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der Präsentation durch Klicken bearbeiten</a:t>
            </a:r>
            <a:endParaRPr lang="en-US" noProof="0" dirty="0"/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en-US" noProof="0"/>
              <a:t>Referent</a:t>
            </a:r>
            <a:br>
              <a:rPr lang="en-US" noProof="0"/>
            </a:br>
            <a:r>
              <a:rPr lang="en-US" noProof="0"/>
              <a:t>Ort, Datum (Schreibweise: 01. Oktober 2022)</a:t>
            </a:r>
            <a:endParaRPr lang="en-US" noProof="0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B05DA8-7CCA-50B5-66C8-9FA22522A2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126662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der Präsentation durch Klicken bearbeiten</a:t>
            </a:r>
            <a:endParaRPr lang="en-US" noProof="0" dirty="0"/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en-US" noProof="0"/>
              <a:t>Referent</a:t>
            </a:r>
            <a:br>
              <a:rPr lang="en-US" noProof="0"/>
            </a:br>
            <a:r>
              <a:rPr lang="en-US" noProof="0"/>
              <a:t>Ort, Datum (Schreibweise: 01. Oktober 2022)</a:t>
            </a:r>
            <a:endParaRPr lang="en-US" noProof="0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46790C7-E0D3-D404-DE8A-466220ADA7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7971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noProof="0"/>
              <a:t>Untert</a:t>
            </a:r>
            <a:r>
              <a:rPr lang="en-US" sz="1800" noProof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5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2DD2142-C9E9-A390-1916-1CD43042FD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919464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Titel der Präsentation durch Klicken bearbeiten</a:t>
            </a:r>
            <a:endParaRPr lang="en-US" noProof="0" dirty="0"/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en-US" noProof="0"/>
              <a:t>Referent</a:t>
            </a:r>
            <a:br>
              <a:rPr lang="en-US" noProof="0"/>
            </a:br>
            <a:r>
              <a:rPr lang="en-US" noProof="0"/>
              <a:t>Ort, Datum (Schreibweise: 01. Oktober 2022)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24569CC-338F-668C-4B1F-F899AF7427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078375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Titel der Präsentation durch Klicken bearbeiten</a:t>
            </a:r>
            <a:endParaRPr lang="en-US" noProof="0" dirty="0"/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en-US" noProof="0"/>
              <a:t>Referent</a:t>
            </a:r>
            <a:br>
              <a:rPr lang="en-US" noProof="0"/>
            </a:br>
            <a:r>
              <a:rPr lang="en-US" noProof="0"/>
              <a:t>Ort, Datum (Schreibweise: 01. Oktober 2022)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</a:t>
            </a:r>
            <a:r>
              <a:rPr lang="en-US" sz="800">
                <a:solidFill>
                  <a:schemeClr val="bg1"/>
                </a:solidFill>
                <a:latin typeface="+mn-lt"/>
              </a:rPr>
              <a:t>Converter Systems</a:t>
            </a:r>
            <a:endParaRPr lang="en-US" sz="800" kern="120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 rtl="0">
              <a:lnSpc>
                <a:spcPts val="900"/>
              </a:lnSpc>
            </a:pPr>
            <a:r>
              <a:rPr lang="en-US" sz="800" kern="120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</a:t>
            </a: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School of Engineering </a:t>
            </a:r>
            <a:r>
              <a:rPr lang="en-US" sz="800" kern="120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and Design</a:t>
            </a:r>
          </a:p>
          <a:p>
            <a:pPr rtl="0">
              <a:lnSpc>
                <a:spcPts val="900"/>
              </a:lnSpc>
            </a:pPr>
            <a:r>
              <a:rPr lang="en-US" sz="800" baseline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en-US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2AF1440-7057-718A-C566-88A54FFBC7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19937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der Präsentation durch Klicken bearbeiten</a:t>
            </a:r>
            <a:endParaRPr lang="en-US" noProof="0" dirty="0"/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en-US" noProof="0"/>
              <a:t>Referent</a:t>
            </a:r>
            <a:br>
              <a:rPr lang="en-US" noProof="0"/>
            </a:br>
            <a:r>
              <a:rPr lang="en-US" noProof="0"/>
              <a:t>Ort, Datum (Schreibweise: 01. Oktober 2022)</a:t>
            </a:r>
            <a:endParaRPr lang="en-US" noProof="0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E9F89A-8A3D-EF36-B47F-C4F11296D3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10323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der Präsentation durch Klicken bearbeiten</a:t>
            </a:r>
            <a:endParaRPr lang="en-US" noProof="0" dirty="0"/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en-US" noProof="0"/>
              <a:t>Referent</a:t>
            </a:r>
            <a:br>
              <a:rPr lang="en-US" noProof="0"/>
            </a:br>
            <a:r>
              <a:rPr lang="en-US" noProof="0"/>
              <a:t>Ort, Datum (Schreibweise: 01. Oktober 2022)</a:t>
            </a:r>
            <a:endParaRPr lang="en-US" noProof="0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23C6BF-7020-BC75-D820-1EE362A101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180817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en-US" noProof="0"/>
              <a:t>Referent</a:t>
            </a:r>
            <a:br>
              <a:rPr lang="en-US" noProof="0"/>
            </a:br>
            <a:r>
              <a:rPr lang="en-US" noProof="0"/>
              <a:t>Ort, Datum (Schreibweise: 01. Oktober 2022)</a:t>
            </a:r>
            <a:endParaRPr lang="en-US" noProof="0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der Präsentation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8C05435-406B-C43A-1848-816439BB2F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026608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noProof="0"/>
              <a:t>Untert</a:t>
            </a:r>
            <a:r>
              <a:rPr lang="en-US" sz="1800" noProof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3F96520-848A-7DCA-515C-2F9D9B5E13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4637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82193C8-2791-E5B7-50F4-920EE04B7B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157807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/>
              <a:t>Inhalt durch Klicken bearbeiten</a:t>
            </a:r>
            <a:endParaRPr lang="en-US" noProof="0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noProof="0"/>
              <a:t>Untert</a:t>
            </a:r>
            <a:r>
              <a:rPr lang="en-US" sz="1800" noProof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DBADF45-7D74-3F9A-F454-21FF624CF1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202853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/>
              <a:t>Inhalt durch Klicken bearbeiten</a:t>
            </a:r>
            <a:endParaRPr lang="en-US" noProof="0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D4D5B6-3A76-99EF-6633-EFE4513253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05984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/>
              <a:t>Inhalt durch Klicken bearbeiten</a:t>
            </a:r>
            <a:endParaRPr lang="en-US" noProof="0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A06963A-34AD-FFA9-8A9C-E275660119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42120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noProof="0"/>
              <a:t>Untert</a:t>
            </a:r>
            <a:r>
              <a:rPr lang="en-US" sz="1800" noProof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9CAF960-4508-EB61-9B2D-5B70F1C747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61081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BE62929-D482-8207-E8FD-C2FEA229D8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6880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noProof="0"/>
              <a:t>Untert</a:t>
            </a:r>
            <a:r>
              <a:rPr lang="en-US" sz="1800" noProof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42767DC-2FD6-5E8A-6209-C0CCB1C9133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17986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  <a:lvl2pPr rtl="0">
              <a:lnSpc>
                <a:spcPct val="114000"/>
              </a:lnSpc>
              <a:defRPr lang="de-DE" sz="1400" noProof="0" dirty="0" smtClean="0"/>
            </a:lvl2pPr>
            <a:lvl3pPr rtl="0">
              <a:defRPr sz="1400" baseline="0"/>
            </a:lvl3pPr>
          </a:lstStyle>
          <a:p>
            <a:pPr lvl="0"/>
            <a:r>
              <a:rPr lang="en-US" noProof="0"/>
              <a:t>Inhalt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246A90C-D7B1-DA85-79B2-514636F18B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54683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/>
              <a:t>Inhalt durch Klicken bearbeiten</a:t>
            </a:r>
            <a:endParaRPr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 hasCustomPrompt="1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 rtl="0"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rtl="0">
              <a:defRPr sz="1400"/>
            </a:lvl2pPr>
            <a:lvl3pPr rtl="0">
              <a:defRPr sz="1400" baseline="0"/>
            </a:lvl3pPr>
          </a:lstStyle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  <a:endParaRPr lang="en-US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noProof="0"/>
              <a:t>Untert</a:t>
            </a:r>
            <a:r>
              <a:rPr lang="en-US" sz="1800" noProof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6164EEF-252A-CD0E-8C3C-92D1077E90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4429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/>
              <a:t>Inhalt durch Klicken bearbeiten</a:t>
            </a:r>
            <a:endParaRPr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 hasCustomPrompt="1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 rtl="0"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rtl="0">
              <a:defRPr sz="1400"/>
            </a:lvl2pPr>
            <a:lvl3pPr rtl="0">
              <a:defRPr sz="1400" baseline="0"/>
            </a:lvl3pPr>
          </a:lstStyle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  <a:endParaRPr lang="en-US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81284BE-9368-84DF-2F18-E714ADA5D2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23207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rtl="0" eaLnBrk="0" hangingPunct="0"/>
            <a:endParaRPr lang="en-US" sz="1000" dirty="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 hasCustomPrompt="1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 rtl="0"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rtl="0">
              <a:defRPr sz="1400"/>
            </a:lvl2pPr>
            <a:lvl3pPr rtl="0">
              <a:defRPr sz="1400" baseline="0"/>
            </a:lvl3pPr>
          </a:lstStyle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  <a:endParaRPr lang="en-US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/>
              <a:t>Inhalt durch Klicken bearbeiten</a:t>
            </a:r>
            <a:endParaRPr lang="en-US" noProof="0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noProof="0"/>
              <a:t>Untert</a:t>
            </a:r>
            <a:r>
              <a:rPr lang="en-US" sz="1800" noProof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1FACF1D-3CE0-0D62-E798-3EF4144BB8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02335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rtl="0" eaLnBrk="0" hangingPunct="0"/>
            <a:endParaRPr lang="en-US" sz="1000" dirty="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 hasCustomPrompt="1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 rtl="0"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rtl="0">
              <a:defRPr sz="1400"/>
            </a:lvl2pPr>
            <a:lvl3pPr rtl="0">
              <a:defRPr sz="1400" baseline="0"/>
            </a:lvl3pPr>
          </a:lstStyle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  <a:endParaRPr lang="en-US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/>
              <a:t>Inhalt durch Klicken bearbeiten</a:t>
            </a:r>
            <a:endParaRPr lang="en-US" noProof="0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EAE7888-DDB6-8F2C-B54C-B4B39E27C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456952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/>
              <a:t>Inhalt durch Klicken bearbeiten</a:t>
            </a:r>
            <a:endParaRPr lang="en-US" noProof="0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noProof="0"/>
              <a:t>Untert</a:t>
            </a:r>
            <a:r>
              <a:rPr lang="en-US" sz="1800" noProof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8D7401D-EF00-B62C-7F92-01E2C8A639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16256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rtl="0"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en-US" noProof="0"/>
              <a:t>Inhalt durch Klicken bearbeiten</a:t>
            </a:r>
            <a:endParaRPr lang="en-US" noProof="0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D0FD977-C57C-7F00-6125-E68A332231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02026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noProof="0"/>
              <a:t>Untert</a:t>
            </a:r>
            <a:r>
              <a:rPr lang="en-US" sz="1800" noProof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C51FDB7-BBE9-3C14-E1DB-60A5EDA09F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20378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Titel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FE3CE19-4018-5891-123A-E35287237D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211124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Präsentationsmuster</a:t>
            </a:r>
            <a:br>
              <a:rPr lang="en-US" noProof="0"/>
            </a:br>
            <a:br>
              <a:rPr lang="en-US" noProof="0"/>
            </a:br>
            <a:r>
              <a:rPr lang="en-US" noProof="0"/>
              <a:t>kann auch als Kapiteltrenner verwendet werden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BC934DC-A866-3556-ED8E-D2E8259065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46667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rtl="0"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Präsentationsmuster</a:t>
            </a:r>
            <a:br>
              <a:rPr lang="en-US" noProof="0"/>
            </a:br>
            <a:br>
              <a:rPr lang="en-US" noProof="0"/>
            </a:br>
            <a:r>
              <a:rPr lang="en-US" noProof="0"/>
              <a:t>kann auch als Kapiteltrenner verwendet werden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theme" Target="../theme/theme3.xml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tags" Target="../tags/tag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9.bin"/><Relationship Id="rId4" Type="http://schemas.openxmlformats.org/officeDocument/2006/relationships/tags" Target="../tags/tag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oleObject" Target="../embeddings/oleObject12.bin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tags" Target="../tags/tag13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image" Target="../media/image2.wmf"/><Relationship Id="rId10" Type="http://schemas.openxmlformats.org/officeDocument/2006/relationships/slideLayout" Target="../slideLayouts/slideLayout18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image" Target="../media/image16.e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0.emf"/><Relationship Id="rId5" Type="http://schemas.openxmlformats.org/officeDocument/2006/relationships/image" Target="../media/image35.emf"/><Relationship Id="rId4" Type="http://schemas.openxmlformats.org/officeDocument/2006/relationships/oleObject" Target="../embeddings/oleObject31.bin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emf"/><Relationship Id="rId5" Type="http://schemas.openxmlformats.org/officeDocument/2006/relationships/image" Target="../media/image37.emf"/><Relationship Id="rId4" Type="http://schemas.openxmlformats.org/officeDocument/2006/relationships/oleObject" Target="../embeddings/oleObject3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DB2F5C9-FAC9-3263-802C-F07441E8166D}"/>
              </a:ext>
            </a:extLst>
          </p:cNvPr>
          <p:cNvGraphicFramePr>
            <a:graphicFrameLocks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465727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725" r:id="rId3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8A7C895-BAD1-D653-D40E-43473E0BBA70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40512578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824B4A0-DAFE-F724-31C7-84DD3FB37652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75501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feld 22"/>
          <p:cNvSpPr txBox="1"/>
          <p:nvPr/>
        </p:nvSpPr>
        <p:spPr>
          <a:xfrm>
            <a:off x="7713330" y="4940031"/>
            <a:ext cx="1115376" cy="192938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 rtl="0">
              <a:lnSpc>
                <a:spcPct val="114000"/>
              </a:lnSpc>
            </a:pPr>
            <a:fld id="{C51078C5-4710-4254-8001-F1C0900803FD}" type="slidenum">
              <a:rPr lang="en-US" sz="1200" smtClean="0">
                <a:latin typeface="+mn-lt"/>
                <a:cs typeface="Arial" pitchFamily="34" charset="0"/>
              </a:rPr>
              <a:pPr algn="r" rtl="0">
                <a:lnSpc>
                  <a:spcPct val="114000"/>
                </a:lnSpc>
              </a:pPr>
              <a:t>‹#›</a:t>
            </a:fld>
            <a:endParaRPr lang="en-US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7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907716E-A5CF-BE34-8947-F28F8B710790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88716411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High-Power </a:t>
            </a:r>
            <a:r>
              <a:rPr lang="en-US" sz="800">
                <a:solidFill>
                  <a:schemeClr val="tx2"/>
                </a:solidFill>
                <a:latin typeface="+mn-lt"/>
              </a:rPr>
              <a:t>Converter Systems</a:t>
            </a:r>
            <a:endParaRPr lang="en-US" sz="800" kern="120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 rtl="0">
              <a:lnSpc>
                <a:spcPts val="900"/>
              </a:lnSpc>
            </a:pPr>
            <a:r>
              <a:rPr lang="en-US" sz="800" kern="120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TUM </a:t>
            </a: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School of Engineering </a:t>
            </a:r>
            <a:r>
              <a:rPr lang="en-US" sz="800" kern="120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and Design</a:t>
            </a:r>
          </a:p>
          <a:p>
            <a:pPr rtl="0">
              <a:lnSpc>
                <a:spcPts val="900"/>
              </a:lnSpc>
            </a:pPr>
            <a:r>
              <a:rPr lang="en-US" sz="800" baseline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en-US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086F720-26E9-8272-E83B-BB9A9377E26D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43022241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7772400" imgH="10058400" progId="TCLayout.ActiveDocument.1">
                  <p:embed/>
                </p:oleObj>
              </mc:Choice>
              <mc:Fallback>
                <p:oleObj name="think-cell Slide" r:id="rId21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72AF79B-7C3A-8178-64AF-F70C9C136859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01747284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114000"/>
              </a:lnSpc>
            </a:pPr>
            <a:endParaRPr lang="en-US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AF49CB8-DBE0-64C9-09C5-0863B460616F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803085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114000"/>
              </a:lnSpc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Relationship Id="rId6" Type="http://schemas.openxmlformats.org/officeDocument/2006/relationships/image" Target="../media/image5.jpeg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5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3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8.xml"/><Relationship Id="rId6" Type="http://schemas.openxmlformats.org/officeDocument/2006/relationships/image" Target="../media/image42.png"/><Relationship Id="rId5" Type="http://schemas.openxmlformats.org/officeDocument/2006/relationships/image" Target="../media/image41.emf"/><Relationship Id="rId4" Type="http://schemas.openxmlformats.org/officeDocument/2006/relationships/oleObject" Target="../embeddings/oleObject3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9.xml"/><Relationship Id="rId6" Type="http://schemas.openxmlformats.org/officeDocument/2006/relationships/image" Target="../media/image45.png"/><Relationship Id="rId5" Type="http://schemas.openxmlformats.org/officeDocument/2006/relationships/image" Target="../media/image44.emf"/><Relationship Id="rId4" Type="http://schemas.openxmlformats.org/officeDocument/2006/relationships/oleObject" Target="../embeddings/oleObject3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0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3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1.xml"/><Relationship Id="rId6" Type="http://schemas.openxmlformats.org/officeDocument/2006/relationships/image" Target="../media/image49.png"/><Relationship Id="rId5" Type="http://schemas.openxmlformats.org/officeDocument/2006/relationships/image" Target="../media/image48.e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2.xml"/><Relationship Id="rId6" Type="http://schemas.openxmlformats.org/officeDocument/2006/relationships/image" Target="../media/image49.png"/><Relationship Id="rId5" Type="http://schemas.openxmlformats.org/officeDocument/2006/relationships/image" Target="../media/image53.emf"/><Relationship Id="rId4" Type="http://schemas.openxmlformats.org/officeDocument/2006/relationships/oleObject" Target="../embeddings/oleObject4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3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3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4.xml"/><Relationship Id="rId6" Type="http://schemas.openxmlformats.org/officeDocument/2006/relationships/image" Target="../media/image49.png"/><Relationship Id="rId5" Type="http://schemas.openxmlformats.org/officeDocument/2006/relationships/image" Target="../media/image54.emf"/><Relationship Id="rId4" Type="http://schemas.openxmlformats.org/officeDocument/2006/relationships/oleObject" Target="../embeddings/oleObject4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5.xml"/><Relationship Id="rId6" Type="http://schemas.openxmlformats.org/officeDocument/2006/relationships/image" Target="../media/image56.png"/><Relationship Id="rId5" Type="http://schemas.openxmlformats.org/officeDocument/2006/relationships/image" Target="../media/image55.emf"/><Relationship Id="rId4" Type="http://schemas.openxmlformats.org/officeDocument/2006/relationships/oleObject" Target="../embeddings/oleObject4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6.xml"/><Relationship Id="rId5" Type="http://schemas.openxmlformats.org/officeDocument/2006/relationships/image" Target="../media/image59.emf"/><Relationship Id="rId4" Type="http://schemas.openxmlformats.org/officeDocument/2006/relationships/oleObject" Target="../embeddings/oleObject43.bin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72.xml"/><Relationship Id="rId21" Type="http://schemas.openxmlformats.org/officeDocument/2006/relationships/tags" Target="../tags/tag67.xml"/><Relationship Id="rId42" Type="http://schemas.openxmlformats.org/officeDocument/2006/relationships/tags" Target="../tags/tag88.xml"/><Relationship Id="rId47" Type="http://schemas.openxmlformats.org/officeDocument/2006/relationships/tags" Target="../tags/tag93.xml"/><Relationship Id="rId63" Type="http://schemas.openxmlformats.org/officeDocument/2006/relationships/tags" Target="../tags/tag109.xml"/><Relationship Id="rId68" Type="http://schemas.openxmlformats.org/officeDocument/2006/relationships/tags" Target="../tags/tag114.xml"/><Relationship Id="rId84" Type="http://schemas.openxmlformats.org/officeDocument/2006/relationships/tags" Target="../tags/tag130.xml"/><Relationship Id="rId89" Type="http://schemas.openxmlformats.org/officeDocument/2006/relationships/tags" Target="../tags/tag135.xml"/><Relationship Id="rId112" Type="http://schemas.openxmlformats.org/officeDocument/2006/relationships/slideLayout" Target="../slideLayouts/slideLayout3.xml"/><Relationship Id="rId16" Type="http://schemas.openxmlformats.org/officeDocument/2006/relationships/tags" Target="../tags/tag62.xml"/><Relationship Id="rId107" Type="http://schemas.openxmlformats.org/officeDocument/2006/relationships/tags" Target="../tags/tag153.xml"/><Relationship Id="rId11" Type="http://schemas.openxmlformats.org/officeDocument/2006/relationships/tags" Target="../tags/tag57.xml"/><Relationship Id="rId32" Type="http://schemas.openxmlformats.org/officeDocument/2006/relationships/tags" Target="../tags/tag78.xml"/><Relationship Id="rId37" Type="http://schemas.openxmlformats.org/officeDocument/2006/relationships/tags" Target="../tags/tag83.xml"/><Relationship Id="rId53" Type="http://schemas.openxmlformats.org/officeDocument/2006/relationships/tags" Target="../tags/tag99.xml"/><Relationship Id="rId58" Type="http://schemas.openxmlformats.org/officeDocument/2006/relationships/tags" Target="../tags/tag104.xml"/><Relationship Id="rId74" Type="http://schemas.openxmlformats.org/officeDocument/2006/relationships/tags" Target="../tags/tag120.xml"/><Relationship Id="rId79" Type="http://schemas.openxmlformats.org/officeDocument/2006/relationships/tags" Target="../tags/tag125.xml"/><Relationship Id="rId102" Type="http://schemas.openxmlformats.org/officeDocument/2006/relationships/tags" Target="../tags/tag148.xml"/><Relationship Id="rId5" Type="http://schemas.openxmlformats.org/officeDocument/2006/relationships/tags" Target="../tags/tag51.xml"/><Relationship Id="rId90" Type="http://schemas.openxmlformats.org/officeDocument/2006/relationships/tags" Target="../tags/tag136.xml"/><Relationship Id="rId95" Type="http://schemas.openxmlformats.org/officeDocument/2006/relationships/tags" Target="../tags/tag141.xml"/><Relationship Id="rId22" Type="http://schemas.openxmlformats.org/officeDocument/2006/relationships/tags" Target="../tags/tag68.xml"/><Relationship Id="rId27" Type="http://schemas.openxmlformats.org/officeDocument/2006/relationships/tags" Target="../tags/tag73.xml"/><Relationship Id="rId43" Type="http://schemas.openxmlformats.org/officeDocument/2006/relationships/tags" Target="../tags/tag89.xml"/><Relationship Id="rId48" Type="http://schemas.openxmlformats.org/officeDocument/2006/relationships/tags" Target="../tags/tag94.xml"/><Relationship Id="rId64" Type="http://schemas.openxmlformats.org/officeDocument/2006/relationships/tags" Target="../tags/tag110.xml"/><Relationship Id="rId69" Type="http://schemas.openxmlformats.org/officeDocument/2006/relationships/tags" Target="../tags/tag115.xml"/><Relationship Id="rId113" Type="http://schemas.openxmlformats.org/officeDocument/2006/relationships/notesSlide" Target="../notesSlides/notesSlide12.xml"/><Relationship Id="rId80" Type="http://schemas.openxmlformats.org/officeDocument/2006/relationships/tags" Target="../tags/tag126.xml"/><Relationship Id="rId85" Type="http://schemas.openxmlformats.org/officeDocument/2006/relationships/tags" Target="../tags/tag131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33" Type="http://schemas.openxmlformats.org/officeDocument/2006/relationships/tags" Target="../tags/tag79.xml"/><Relationship Id="rId38" Type="http://schemas.openxmlformats.org/officeDocument/2006/relationships/tags" Target="../tags/tag84.xml"/><Relationship Id="rId59" Type="http://schemas.openxmlformats.org/officeDocument/2006/relationships/tags" Target="../tags/tag105.xml"/><Relationship Id="rId103" Type="http://schemas.openxmlformats.org/officeDocument/2006/relationships/tags" Target="../tags/tag149.xml"/><Relationship Id="rId108" Type="http://schemas.openxmlformats.org/officeDocument/2006/relationships/tags" Target="../tags/tag154.xml"/><Relationship Id="rId54" Type="http://schemas.openxmlformats.org/officeDocument/2006/relationships/tags" Target="../tags/tag100.xml"/><Relationship Id="rId70" Type="http://schemas.openxmlformats.org/officeDocument/2006/relationships/tags" Target="../tags/tag116.xml"/><Relationship Id="rId75" Type="http://schemas.openxmlformats.org/officeDocument/2006/relationships/tags" Target="../tags/tag121.xml"/><Relationship Id="rId91" Type="http://schemas.openxmlformats.org/officeDocument/2006/relationships/tags" Target="../tags/tag137.xml"/><Relationship Id="rId96" Type="http://schemas.openxmlformats.org/officeDocument/2006/relationships/tags" Target="../tags/tag142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tags" Target="../tags/tag74.xml"/><Relationship Id="rId36" Type="http://schemas.openxmlformats.org/officeDocument/2006/relationships/tags" Target="../tags/tag82.xml"/><Relationship Id="rId49" Type="http://schemas.openxmlformats.org/officeDocument/2006/relationships/tags" Target="../tags/tag95.xml"/><Relationship Id="rId57" Type="http://schemas.openxmlformats.org/officeDocument/2006/relationships/tags" Target="../tags/tag103.xml"/><Relationship Id="rId106" Type="http://schemas.openxmlformats.org/officeDocument/2006/relationships/tags" Target="../tags/tag152.xml"/><Relationship Id="rId114" Type="http://schemas.openxmlformats.org/officeDocument/2006/relationships/oleObject" Target="../embeddings/oleObject44.bin"/><Relationship Id="rId10" Type="http://schemas.openxmlformats.org/officeDocument/2006/relationships/tags" Target="../tags/tag56.xml"/><Relationship Id="rId31" Type="http://schemas.openxmlformats.org/officeDocument/2006/relationships/tags" Target="../tags/tag77.xml"/><Relationship Id="rId44" Type="http://schemas.openxmlformats.org/officeDocument/2006/relationships/tags" Target="../tags/tag90.xml"/><Relationship Id="rId52" Type="http://schemas.openxmlformats.org/officeDocument/2006/relationships/tags" Target="../tags/tag98.xml"/><Relationship Id="rId60" Type="http://schemas.openxmlformats.org/officeDocument/2006/relationships/tags" Target="../tags/tag106.xml"/><Relationship Id="rId65" Type="http://schemas.openxmlformats.org/officeDocument/2006/relationships/tags" Target="../tags/tag111.xml"/><Relationship Id="rId73" Type="http://schemas.openxmlformats.org/officeDocument/2006/relationships/tags" Target="../tags/tag119.xml"/><Relationship Id="rId78" Type="http://schemas.openxmlformats.org/officeDocument/2006/relationships/tags" Target="../tags/tag124.xml"/><Relationship Id="rId81" Type="http://schemas.openxmlformats.org/officeDocument/2006/relationships/tags" Target="../tags/tag127.xml"/><Relationship Id="rId86" Type="http://schemas.openxmlformats.org/officeDocument/2006/relationships/tags" Target="../tags/tag132.xml"/><Relationship Id="rId94" Type="http://schemas.openxmlformats.org/officeDocument/2006/relationships/tags" Target="../tags/tag140.xml"/><Relationship Id="rId99" Type="http://schemas.openxmlformats.org/officeDocument/2006/relationships/tags" Target="../tags/tag145.xml"/><Relationship Id="rId101" Type="http://schemas.openxmlformats.org/officeDocument/2006/relationships/tags" Target="../tags/tag147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39" Type="http://schemas.openxmlformats.org/officeDocument/2006/relationships/tags" Target="../tags/tag85.xml"/><Relationship Id="rId109" Type="http://schemas.openxmlformats.org/officeDocument/2006/relationships/tags" Target="../tags/tag155.xml"/><Relationship Id="rId34" Type="http://schemas.openxmlformats.org/officeDocument/2006/relationships/tags" Target="../tags/tag80.xml"/><Relationship Id="rId50" Type="http://schemas.openxmlformats.org/officeDocument/2006/relationships/tags" Target="../tags/tag96.xml"/><Relationship Id="rId55" Type="http://schemas.openxmlformats.org/officeDocument/2006/relationships/tags" Target="../tags/tag101.xml"/><Relationship Id="rId76" Type="http://schemas.openxmlformats.org/officeDocument/2006/relationships/tags" Target="../tags/tag122.xml"/><Relationship Id="rId97" Type="http://schemas.openxmlformats.org/officeDocument/2006/relationships/tags" Target="../tags/tag143.xml"/><Relationship Id="rId104" Type="http://schemas.openxmlformats.org/officeDocument/2006/relationships/tags" Target="../tags/tag150.xml"/><Relationship Id="rId7" Type="http://schemas.openxmlformats.org/officeDocument/2006/relationships/tags" Target="../tags/tag53.xml"/><Relationship Id="rId71" Type="http://schemas.openxmlformats.org/officeDocument/2006/relationships/tags" Target="../tags/tag117.xml"/><Relationship Id="rId92" Type="http://schemas.openxmlformats.org/officeDocument/2006/relationships/tags" Target="../tags/tag138.xml"/><Relationship Id="rId2" Type="http://schemas.openxmlformats.org/officeDocument/2006/relationships/tags" Target="../tags/tag48.xml"/><Relationship Id="rId29" Type="http://schemas.openxmlformats.org/officeDocument/2006/relationships/tags" Target="../tags/tag75.xml"/><Relationship Id="rId24" Type="http://schemas.openxmlformats.org/officeDocument/2006/relationships/tags" Target="../tags/tag70.xml"/><Relationship Id="rId40" Type="http://schemas.openxmlformats.org/officeDocument/2006/relationships/tags" Target="../tags/tag86.xml"/><Relationship Id="rId45" Type="http://schemas.openxmlformats.org/officeDocument/2006/relationships/tags" Target="../tags/tag91.xml"/><Relationship Id="rId66" Type="http://schemas.openxmlformats.org/officeDocument/2006/relationships/tags" Target="../tags/tag112.xml"/><Relationship Id="rId87" Type="http://schemas.openxmlformats.org/officeDocument/2006/relationships/tags" Target="../tags/tag133.xml"/><Relationship Id="rId110" Type="http://schemas.openxmlformats.org/officeDocument/2006/relationships/tags" Target="../tags/tag156.xml"/><Relationship Id="rId115" Type="http://schemas.openxmlformats.org/officeDocument/2006/relationships/image" Target="../media/image60.emf"/><Relationship Id="rId61" Type="http://schemas.openxmlformats.org/officeDocument/2006/relationships/tags" Target="../tags/tag107.xml"/><Relationship Id="rId82" Type="http://schemas.openxmlformats.org/officeDocument/2006/relationships/tags" Target="../tags/tag128.xml"/><Relationship Id="rId19" Type="http://schemas.openxmlformats.org/officeDocument/2006/relationships/tags" Target="../tags/tag65.xml"/><Relationship Id="rId14" Type="http://schemas.openxmlformats.org/officeDocument/2006/relationships/tags" Target="../tags/tag60.xml"/><Relationship Id="rId30" Type="http://schemas.openxmlformats.org/officeDocument/2006/relationships/tags" Target="../tags/tag76.xml"/><Relationship Id="rId35" Type="http://schemas.openxmlformats.org/officeDocument/2006/relationships/tags" Target="../tags/tag81.xml"/><Relationship Id="rId56" Type="http://schemas.openxmlformats.org/officeDocument/2006/relationships/tags" Target="../tags/tag102.xml"/><Relationship Id="rId77" Type="http://schemas.openxmlformats.org/officeDocument/2006/relationships/tags" Target="../tags/tag123.xml"/><Relationship Id="rId100" Type="http://schemas.openxmlformats.org/officeDocument/2006/relationships/tags" Target="../tags/tag146.xml"/><Relationship Id="rId105" Type="http://schemas.openxmlformats.org/officeDocument/2006/relationships/tags" Target="../tags/tag151.xml"/><Relationship Id="rId8" Type="http://schemas.openxmlformats.org/officeDocument/2006/relationships/tags" Target="../tags/tag54.xml"/><Relationship Id="rId51" Type="http://schemas.openxmlformats.org/officeDocument/2006/relationships/tags" Target="../tags/tag97.xml"/><Relationship Id="rId72" Type="http://schemas.openxmlformats.org/officeDocument/2006/relationships/tags" Target="../tags/tag118.xml"/><Relationship Id="rId93" Type="http://schemas.openxmlformats.org/officeDocument/2006/relationships/tags" Target="../tags/tag139.xml"/><Relationship Id="rId98" Type="http://schemas.openxmlformats.org/officeDocument/2006/relationships/tags" Target="../tags/tag144.xml"/><Relationship Id="rId3" Type="http://schemas.openxmlformats.org/officeDocument/2006/relationships/tags" Target="../tags/tag49.xml"/><Relationship Id="rId25" Type="http://schemas.openxmlformats.org/officeDocument/2006/relationships/tags" Target="../tags/tag71.xml"/><Relationship Id="rId46" Type="http://schemas.openxmlformats.org/officeDocument/2006/relationships/tags" Target="../tags/tag92.xml"/><Relationship Id="rId67" Type="http://schemas.openxmlformats.org/officeDocument/2006/relationships/tags" Target="../tags/tag113.xml"/><Relationship Id="rId20" Type="http://schemas.openxmlformats.org/officeDocument/2006/relationships/tags" Target="../tags/tag66.xml"/><Relationship Id="rId41" Type="http://schemas.openxmlformats.org/officeDocument/2006/relationships/tags" Target="../tags/tag87.xml"/><Relationship Id="rId62" Type="http://schemas.openxmlformats.org/officeDocument/2006/relationships/tags" Target="../tags/tag108.xml"/><Relationship Id="rId83" Type="http://schemas.openxmlformats.org/officeDocument/2006/relationships/tags" Target="../tags/tag129.xml"/><Relationship Id="rId88" Type="http://schemas.openxmlformats.org/officeDocument/2006/relationships/tags" Target="../tags/tag134.xml"/><Relationship Id="rId111" Type="http://schemas.openxmlformats.org/officeDocument/2006/relationships/tags" Target="../tags/tag15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8.xml"/><Relationship Id="rId5" Type="http://schemas.openxmlformats.org/officeDocument/2006/relationships/image" Target="../media/image61.emf"/><Relationship Id="rId4" Type="http://schemas.openxmlformats.org/officeDocument/2006/relationships/oleObject" Target="../embeddings/oleObject4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2A581E2-FE01-C776-3353-AC50C253BAA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928156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Bild 4" descr="TUM_Glockenturm.t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Master Thesis Initial Report - Research on Modulation </a:t>
            </a:r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and Control Optimization 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for MMC-SST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220444" y="2301851"/>
            <a:ext cx="8508999" cy="955594"/>
          </a:xfrm>
        </p:spPr>
        <p:txBody>
          <a:bodyPr/>
          <a:lstStyle/>
          <a:p>
            <a:r>
              <a:rPr lang="en-US" dirty="0"/>
              <a:t>Presenter: Haoheng Li</a:t>
            </a:r>
          </a:p>
          <a:p>
            <a:r>
              <a:rPr lang="en-US" dirty="0"/>
              <a:t>Supervisor: Dr. Gean Maia de Sousa</a:t>
            </a:r>
          </a:p>
          <a:p>
            <a:r>
              <a:rPr lang="en-US" dirty="0"/>
              <a:t>Professor: Prof. </a:t>
            </a:r>
            <a:r>
              <a:rPr lang="en-US" dirty="0" err="1"/>
              <a:t>Dr.sc</a:t>
            </a:r>
            <a:r>
              <a:rPr lang="en-US" dirty="0"/>
              <a:t>. ETH Zürich Marcelo Lobo </a:t>
            </a:r>
            <a:r>
              <a:rPr lang="en-US" dirty="0" err="1"/>
              <a:t>Heldwein</a:t>
            </a:r>
            <a:endParaRPr lang="en-US" dirty="0"/>
          </a:p>
          <a:p>
            <a:r>
              <a:rPr lang="en-US" dirty="0"/>
              <a:t>Technical University of Munich</a:t>
            </a:r>
          </a:p>
          <a:p>
            <a:r>
              <a:rPr lang="en-US" dirty="0"/>
              <a:t>12, December,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F60434F-4210-0448-4C82-D1225D8053A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81112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506DEE8-348D-2C35-19D5-C968F310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336" y="627493"/>
            <a:ext cx="8508999" cy="383381"/>
          </a:xfrm>
        </p:spPr>
        <p:txBody>
          <a:bodyPr vert="horz" rIns="0"/>
          <a:lstStyle/>
          <a:p>
            <a:r>
              <a:rPr kumimoji="1" lang="en-US" sz="3200" dirty="0"/>
              <a:t>Outline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CFF36A-FA2D-8477-3D60-4478A19743A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0381" y="1324439"/>
            <a:ext cx="4433404" cy="2823800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Introduction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 Statement and Research Gap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 &amp; Methodology </a:t>
            </a:r>
          </a:p>
        </p:txBody>
      </p:sp>
    </p:spTree>
    <p:extLst>
      <p:ext uri="{BB962C8B-B14F-4D97-AF65-F5344CB8AC3E}">
        <p14:creationId xmlns:p14="http://schemas.microsoft.com/office/powerpoint/2010/main" val="33732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23CB55E-9D85-A800-0815-AD6AF9FE63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5342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7EBAB0-0C2D-4DF8-ACE2-D5F53EF932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2B0A51D-7403-E2CD-0F40-153198CE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95" y="225727"/>
            <a:ext cx="8508999" cy="791114"/>
          </a:xfrm>
        </p:spPr>
        <p:txBody>
          <a:bodyPr vert="horz" rIns="0">
            <a:spAutoFit/>
          </a:bodyPr>
          <a:lstStyle/>
          <a:p>
            <a:r>
              <a:rPr kumimoji="1" lang="en-US" dirty="0"/>
              <a:t>What is SST and its application</a:t>
            </a:r>
            <a:br>
              <a:rPr kumimoji="1" lang="en-US" dirty="0"/>
            </a:br>
            <a:endParaRPr kumimoji="1"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303CC5B-00B1-CE96-1DD3-115248079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841" y="1324614"/>
            <a:ext cx="4849115" cy="12471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2A1F757-307C-D768-29EE-03E640B84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398" y="3241016"/>
            <a:ext cx="4571999" cy="130831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916C9B2-90E9-9E5E-539D-A7125712CAA1}"/>
              </a:ext>
            </a:extLst>
          </p:cNvPr>
          <p:cNvSpPr txBox="1"/>
          <p:nvPr/>
        </p:nvSpPr>
        <p:spPr>
          <a:xfrm>
            <a:off x="246107" y="997024"/>
            <a:ext cx="4533164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solidFill>
                  <a:schemeClr val="bg2"/>
                </a:solidFill>
                <a:latin typeface="+mn-lt"/>
              </a:rPr>
              <a:t>State-of-art middle voltage interface for AC-DC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D7CEF51-1AB4-FB10-A836-23624F154D9D}"/>
              </a:ext>
            </a:extLst>
          </p:cNvPr>
          <p:cNvSpPr txBox="1"/>
          <p:nvPr/>
        </p:nvSpPr>
        <p:spPr>
          <a:xfrm>
            <a:off x="201095" y="2750898"/>
            <a:ext cx="4578176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solidFill>
                  <a:schemeClr val="bg2"/>
                </a:solidFill>
                <a:latin typeface="+mn-lt"/>
              </a:rPr>
              <a:t>Solid state transformer middle voltage interface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CDD14C-4A0E-8BA2-F645-E9DA6EA665D4}"/>
              </a:ext>
            </a:extLst>
          </p:cNvPr>
          <p:cNvSpPr txBox="1"/>
          <p:nvPr/>
        </p:nvSpPr>
        <p:spPr>
          <a:xfrm>
            <a:off x="5165159" y="1125649"/>
            <a:ext cx="3282961" cy="10994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sz="1600" dirty="0">
                <a:latin typeface="+mn-lt"/>
              </a:rPr>
              <a:t>A Solid State Transformer (SST) is a p</a:t>
            </a:r>
            <a:r>
              <a:rPr lang="en-US" sz="1600" dirty="0"/>
              <a:t>ower electronic converter with Middle-Frequency Transformer (MFT).</a:t>
            </a:r>
            <a:endParaRPr kumimoji="1" lang="en-US" sz="1600" dirty="0">
              <a:latin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40BC0B-7368-AA21-C176-CC152D3CAF96}"/>
              </a:ext>
            </a:extLst>
          </p:cNvPr>
          <p:cNvSpPr txBox="1"/>
          <p:nvPr/>
        </p:nvSpPr>
        <p:spPr>
          <a:xfrm>
            <a:off x="5165159" y="2545581"/>
            <a:ext cx="38069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Key Advantages: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Volume/Weight reduction (due to high frequency).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Full power flow control (Active/Reactive).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Higher efficiency for AC-DC application</a:t>
            </a:r>
          </a:p>
        </p:txBody>
      </p:sp>
    </p:spTree>
    <p:extLst>
      <p:ext uri="{BB962C8B-B14F-4D97-AF65-F5344CB8AC3E}">
        <p14:creationId xmlns:p14="http://schemas.microsoft.com/office/powerpoint/2010/main" val="244606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4E0F-6675-7328-FCD9-2F7C3C93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B9E1DD8-6B00-BEFC-9423-9A94065EBE2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156776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49A72E-5096-7C68-59D6-1B49422285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17267" y="4780851"/>
            <a:ext cx="2052074" cy="273844"/>
          </a:xfrm>
        </p:spPr>
        <p:txBody>
          <a:bodyPr/>
          <a:lstStyle/>
          <a:p>
            <a:fld id="{CE58CB1E-F828-4F11-99E0-327109AF9DA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77D1F39-64ED-BFB3-8A2F-5B0691C6B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95" y="240539"/>
            <a:ext cx="8508999" cy="380745"/>
          </a:xfrm>
        </p:spPr>
        <p:txBody>
          <a:bodyPr vert="horz" rIns="0">
            <a:spAutoFit/>
          </a:bodyPr>
          <a:lstStyle/>
          <a:p>
            <a:r>
              <a:rPr kumimoji="1" lang="en-US" dirty="0"/>
              <a:t>What is SST and its application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4DF24F-8ADD-EA04-FD69-0E2E928BA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00" y="729759"/>
            <a:ext cx="3576400" cy="321580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BC91455-9472-BE3B-67C5-522186C7DAEB}"/>
              </a:ext>
            </a:extLst>
          </p:cNvPr>
          <p:cNvSpPr txBox="1"/>
          <p:nvPr/>
        </p:nvSpPr>
        <p:spPr>
          <a:xfrm>
            <a:off x="342191" y="3913606"/>
            <a:ext cx="3818467" cy="9489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sz="1100" dirty="0">
                <a:latin typeface="+mn-lt"/>
              </a:rPr>
              <a:t>Comparison of SST and Low Frequency Transformer(LFT) Solution </a:t>
            </a:r>
          </a:p>
          <a:p>
            <a:pPr marL="228600" indent="-228600">
              <a:lnSpc>
                <a:spcPct val="114000"/>
              </a:lnSpc>
              <a:buAutoNum type="alphaLcParenR"/>
            </a:pPr>
            <a:r>
              <a:rPr kumimoji="1" lang="en-US" sz="1100" dirty="0">
                <a:latin typeface="+mn-lt"/>
              </a:rPr>
              <a:t>AC-AC </a:t>
            </a:r>
          </a:p>
          <a:p>
            <a:pPr marL="228600" indent="-228600">
              <a:lnSpc>
                <a:spcPct val="114000"/>
              </a:lnSpc>
              <a:buAutoNum type="alphaLcParenR"/>
            </a:pPr>
            <a:r>
              <a:rPr kumimoji="1" lang="en-US" sz="1100" dirty="0">
                <a:latin typeface="+mn-lt"/>
              </a:rPr>
              <a:t>50% AC-AC and 50% AC-DC</a:t>
            </a:r>
          </a:p>
          <a:p>
            <a:pPr marL="228600" indent="-228600">
              <a:lnSpc>
                <a:spcPct val="114000"/>
              </a:lnSpc>
              <a:buAutoNum type="alphaLcParenR"/>
            </a:pPr>
            <a:r>
              <a:rPr kumimoji="1" lang="en-US" sz="1100" dirty="0">
                <a:latin typeface="+mn-lt"/>
              </a:rPr>
              <a:t> AC-DC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F3B639A-E1F1-E5CB-28DB-7094901FD8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9273" y="535054"/>
            <a:ext cx="2597994" cy="231243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9D88296-4B08-6C66-B9EF-D07E25A138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5890" y="3052994"/>
            <a:ext cx="2479359" cy="178513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F26E7EA-791B-3234-5E93-AB891E6F04F5}"/>
              </a:ext>
            </a:extLst>
          </p:cNvPr>
          <p:cNvSpPr txBox="1"/>
          <p:nvPr/>
        </p:nvSpPr>
        <p:spPr>
          <a:xfrm>
            <a:off x="6959601" y="1803191"/>
            <a:ext cx="1394613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+mn-lt"/>
              </a:rPr>
              <a:t>Data Center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1061F2-E8B4-11F8-6F20-B6F3A0E7A28E}"/>
              </a:ext>
            </a:extLst>
          </p:cNvPr>
          <p:cNvSpPr txBox="1"/>
          <p:nvPr/>
        </p:nvSpPr>
        <p:spPr>
          <a:xfrm>
            <a:off x="4219273" y="3816938"/>
            <a:ext cx="2226572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latin typeface="+mn-lt"/>
              </a:rPr>
              <a:t>Super Charge station</a:t>
            </a:r>
          </a:p>
        </p:txBody>
      </p:sp>
    </p:spTree>
    <p:extLst>
      <p:ext uri="{BB962C8B-B14F-4D97-AF65-F5344CB8AC3E}">
        <p14:creationId xmlns:p14="http://schemas.microsoft.com/office/powerpoint/2010/main" val="365689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57C99-E356-7777-B169-567138A65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92E4F46-C99C-04D5-75F6-F6033F495C8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60434F-4210-0448-4C82-D1225D8053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330B008-ADC2-68B5-CE48-0511B9231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336" y="627493"/>
            <a:ext cx="8508999" cy="383381"/>
          </a:xfrm>
        </p:spPr>
        <p:txBody>
          <a:bodyPr vert="horz" rIns="0"/>
          <a:lstStyle/>
          <a:p>
            <a:r>
              <a:rPr kumimoji="1" lang="en-US" sz="3200" dirty="0"/>
              <a:t>Outline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0D4990-E3B7-1332-485C-03DBA2B1479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0381" y="1324439"/>
            <a:ext cx="4433404" cy="2823800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Problem Statement and Research Gap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 &amp; Methodology </a:t>
            </a:r>
          </a:p>
        </p:txBody>
      </p:sp>
    </p:spTree>
    <p:extLst>
      <p:ext uri="{BB962C8B-B14F-4D97-AF65-F5344CB8AC3E}">
        <p14:creationId xmlns:p14="http://schemas.microsoft.com/office/powerpoint/2010/main" val="204333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CD0C-D425-5D45-F8D7-B022A0DF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F514038-F2EA-E040-7C09-0D52990AE1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27064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66847A1D-EF39-E48C-570A-F4DCE2A06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362" y="741979"/>
            <a:ext cx="6322064" cy="2736732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4F10A0-FC97-7E3F-A188-06C883F61F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3B7726D-611D-FAA2-258C-D7B4704E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58" y="115367"/>
            <a:ext cx="8508999" cy="791114"/>
          </a:xfrm>
        </p:spPr>
        <p:txBody>
          <a:bodyPr vert="horz" rIns="0">
            <a:spAutoFit/>
          </a:bodyPr>
          <a:lstStyle/>
          <a:p>
            <a:r>
              <a:rPr lang="en-US" dirty="0"/>
              <a:t>Topology Analysis</a:t>
            </a:r>
            <a:br>
              <a:rPr lang="en-US" dirty="0"/>
            </a:br>
            <a:r>
              <a:rPr lang="en-US" dirty="0"/>
              <a:t>-Mudular Multilevel Converter (MMC)-SST</a:t>
            </a:r>
            <a:endParaRPr kumimoji="1"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9B5E34-F9C8-CEF7-0918-A869BDB591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763" y="3306613"/>
            <a:ext cx="1609085" cy="10973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2D5088-DC16-1BB5-E744-A807DCE31D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2025" y="3275044"/>
            <a:ext cx="1270164" cy="12203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BA0B601-C2EB-F9C2-4030-C2923E000D8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7310"/>
          <a:stretch>
            <a:fillRect/>
          </a:stretch>
        </p:blipFill>
        <p:spPr>
          <a:xfrm>
            <a:off x="7065076" y="3279491"/>
            <a:ext cx="1520748" cy="115164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506CA9D-F5A0-71E2-81D9-B8B9B8648930}"/>
              </a:ext>
            </a:extLst>
          </p:cNvPr>
          <p:cNvSpPr txBox="1"/>
          <p:nvPr/>
        </p:nvSpPr>
        <p:spPr>
          <a:xfrm>
            <a:off x="598236" y="4577456"/>
            <a:ext cx="2046138" cy="192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sz="1200" dirty="0">
                <a:latin typeface="+mn-lt"/>
              </a:rPr>
              <a:t>10kV 50Hz Middle Voltage AC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D79D07-0BC0-A936-AC3F-669DB94EBEC3}"/>
              </a:ext>
            </a:extLst>
          </p:cNvPr>
          <p:cNvSpPr txBox="1"/>
          <p:nvPr/>
        </p:nvSpPr>
        <p:spPr>
          <a:xfrm>
            <a:off x="3671911" y="4572763"/>
            <a:ext cx="2130391" cy="192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sz="1200" dirty="0">
                <a:latin typeface="+mn-lt"/>
              </a:rPr>
              <a:t>Middle Frequency square wave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82F345-3C2F-765D-41B4-9AF268A44F96}"/>
              </a:ext>
            </a:extLst>
          </p:cNvPr>
          <p:cNvSpPr txBox="1"/>
          <p:nvPr/>
        </p:nvSpPr>
        <p:spPr>
          <a:xfrm>
            <a:off x="7237372" y="4662047"/>
            <a:ext cx="1176156" cy="192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sz="1200" dirty="0">
                <a:latin typeface="+mn-lt"/>
              </a:rPr>
              <a:t>800V DC Voltage</a:t>
            </a: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7CD75D11-C821-2F4A-9E0B-D14423AC267A}"/>
              </a:ext>
            </a:extLst>
          </p:cNvPr>
          <p:cNvSpPr/>
          <p:nvPr/>
        </p:nvSpPr>
        <p:spPr>
          <a:xfrm>
            <a:off x="2904036" y="3675353"/>
            <a:ext cx="978408" cy="484632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en-US" dirty="0"/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F5AF859D-CA47-E7CF-9BFE-75382FA47343}"/>
              </a:ext>
            </a:extLst>
          </p:cNvPr>
          <p:cNvSpPr/>
          <p:nvPr/>
        </p:nvSpPr>
        <p:spPr>
          <a:xfrm>
            <a:off x="5746423" y="3699587"/>
            <a:ext cx="978408" cy="484632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65DC85-2894-DA55-96D7-F799CC690300}"/>
              </a:ext>
            </a:extLst>
          </p:cNvPr>
          <p:cNvSpPr/>
          <p:nvPr/>
        </p:nvSpPr>
        <p:spPr>
          <a:xfrm>
            <a:off x="3986447" y="1496310"/>
            <a:ext cx="395926" cy="1087357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en-US" dirty="0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51B94D08-6DF0-8E19-46E3-B0695FA68F3E}"/>
              </a:ext>
            </a:extLst>
          </p:cNvPr>
          <p:cNvCxnSpPr>
            <a:stCxn id="20" idx="2"/>
            <a:endCxn id="7" idx="0"/>
          </p:cNvCxnSpPr>
          <p:nvPr/>
        </p:nvCxnSpPr>
        <p:spPr>
          <a:xfrm>
            <a:off x="4184410" y="2583667"/>
            <a:ext cx="552697" cy="6913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08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495D0-C203-C512-A5DF-C7B93F06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44287E8-F561-1497-E252-2BCA901E00D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21722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356EFBE-F553-1757-A92E-1F1784E73C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BB99B43-94EF-1D31-6E00-F1B42DC08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58" y="115367"/>
            <a:ext cx="8508999" cy="380745"/>
          </a:xfrm>
        </p:spPr>
        <p:txBody>
          <a:bodyPr vert="horz" rIns="0">
            <a:spAutoFit/>
          </a:bodyPr>
          <a:lstStyle/>
          <a:p>
            <a:r>
              <a:rPr kumimoji="1" lang="en-US" dirty="0"/>
              <a:t>Existed Modulation Method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0C4A62-85E0-6B57-F0FB-FC6D7FAAA436}"/>
              </a:ext>
            </a:extLst>
          </p:cNvPr>
          <p:cNvSpPr txBox="1"/>
          <p:nvPr/>
        </p:nvSpPr>
        <p:spPr>
          <a:xfrm>
            <a:off x="87024" y="2995649"/>
            <a:ext cx="34041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Nearest Level Modulation</a:t>
            </a:r>
          </a:p>
          <a:p>
            <a:r>
              <a:rPr lang="en-US" sz="1600" dirty="0"/>
              <a:t>✅ Very Low Losses </a:t>
            </a:r>
          </a:p>
          <a:p>
            <a:r>
              <a:rPr lang="en-US" sz="1600" dirty="0"/>
              <a:t>❌ Poor Waveform Quality (High THD)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CC3427-3DD8-B7AA-9779-6661D3C6E155}"/>
              </a:ext>
            </a:extLst>
          </p:cNvPr>
          <p:cNvSpPr txBox="1"/>
          <p:nvPr/>
        </p:nvSpPr>
        <p:spPr>
          <a:xfrm>
            <a:off x="6274342" y="2561834"/>
            <a:ext cx="2713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DC/DC Stage Challenge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B5C856-E9DF-0808-CDA3-08352E0F4211}"/>
              </a:ext>
            </a:extLst>
          </p:cNvPr>
          <p:cNvSpPr txBox="1"/>
          <p:nvPr/>
        </p:nvSpPr>
        <p:spPr>
          <a:xfrm>
            <a:off x="1789076" y="2599435"/>
            <a:ext cx="2051908" cy="2893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dirty="0">
                <a:latin typeface="+mn-lt"/>
              </a:rPr>
              <a:t>MMC AC-AC Stage 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50CFBF-4ACD-91DE-6402-53CEAAC3C608}"/>
              </a:ext>
            </a:extLst>
          </p:cNvPr>
          <p:cNvSpPr/>
          <p:nvPr/>
        </p:nvSpPr>
        <p:spPr>
          <a:xfrm>
            <a:off x="1723098" y="2599435"/>
            <a:ext cx="2051908" cy="337208"/>
          </a:xfrm>
          <a:prstGeom prst="rect">
            <a:avLst/>
          </a:prstGeom>
          <a:solidFill>
            <a:srgbClr val="00B05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32A5CA6-F590-0C18-C95A-DC125C53BE8C}"/>
              </a:ext>
            </a:extLst>
          </p:cNvPr>
          <p:cNvGrpSpPr/>
          <p:nvPr/>
        </p:nvGrpSpPr>
        <p:grpSpPr>
          <a:xfrm>
            <a:off x="2277886" y="454126"/>
            <a:ext cx="4365742" cy="1889868"/>
            <a:chOff x="1443981" y="473300"/>
            <a:chExt cx="4365742" cy="1889868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48C7D8F4-400A-2320-A9A4-CA8E52730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3981" y="473300"/>
              <a:ext cx="4365742" cy="1889868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41C7CAF-A590-115C-6DD7-EE10283A62A4}"/>
                </a:ext>
              </a:extLst>
            </p:cNvPr>
            <p:cNvSpPr/>
            <p:nvPr/>
          </p:nvSpPr>
          <p:spPr>
            <a:xfrm>
              <a:off x="2100404" y="767213"/>
              <a:ext cx="1385180" cy="1595955"/>
            </a:xfrm>
            <a:prstGeom prst="rect">
              <a:avLst/>
            </a:prstGeom>
            <a:solidFill>
              <a:srgbClr val="00B05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kumimoji="1" 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926BB54-2D9C-62EC-378F-2C4FF207B79B}"/>
                </a:ext>
              </a:extLst>
            </p:cNvPr>
            <p:cNvSpPr/>
            <p:nvPr/>
          </p:nvSpPr>
          <p:spPr>
            <a:xfrm>
              <a:off x="3626851" y="767213"/>
              <a:ext cx="1850495" cy="1595955"/>
            </a:xfrm>
            <a:prstGeom prst="rect">
              <a:avLst/>
            </a:prstGeom>
            <a:solidFill>
              <a:srgbClr val="0070C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kumimoji="1" lang="en-US" dirty="0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55B536F2-98DE-64C3-5056-5435FE36A6DF}"/>
              </a:ext>
            </a:extLst>
          </p:cNvPr>
          <p:cNvSpPr/>
          <p:nvPr/>
        </p:nvSpPr>
        <p:spPr>
          <a:xfrm>
            <a:off x="6274342" y="2571750"/>
            <a:ext cx="2595741" cy="337208"/>
          </a:xfrm>
          <a:prstGeom prst="rect">
            <a:avLst/>
          </a:prstGeom>
          <a:solidFill>
            <a:srgbClr val="0070C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A92B93B-C5FF-35DC-6C64-69B320B4E707}"/>
              </a:ext>
            </a:extLst>
          </p:cNvPr>
          <p:cNvSpPr txBox="1"/>
          <p:nvPr/>
        </p:nvSpPr>
        <p:spPr>
          <a:xfrm>
            <a:off x="6362614" y="3078762"/>
            <a:ext cx="26251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Phase Shift modulation</a:t>
            </a:r>
          </a:p>
          <a:p>
            <a:r>
              <a:rPr lang="en-US" sz="1600" dirty="0"/>
              <a:t>❌ Limited Phase Shift control for the MFT to ensure Zero Voltage Switching (ZVS).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8FAB28-373C-1119-8E0A-C06A28DD657D}"/>
              </a:ext>
            </a:extLst>
          </p:cNvPr>
          <p:cNvSpPr txBox="1"/>
          <p:nvPr/>
        </p:nvSpPr>
        <p:spPr>
          <a:xfrm>
            <a:off x="3401800" y="3078762"/>
            <a:ext cx="2909451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Pulse Width Modulation</a:t>
            </a:r>
          </a:p>
          <a:p>
            <a:r>
              <a:rPr lang="en-US" sz="1600" dirty="0"/>
              <a:t>✅ Good Harmonic performance</a:t>
            </a:r>
          </a:p>
          <a:p>
            <a:r>
              <a:rPr lang="en-US" sz="1600" dirty="0"/>
              <a:t>❌ Huge Switching Losses</a:t>
            </a:r>
          </a:p>
        </p:txBody>
      </p:sp>
    </p:spTree>
    <p:extLst>
      <p:ext uri="{BB962C8B-B14F-4D97-AF65-F5344CB8AC3E}">
        <p14:creationId xmlns:p14="http://schemas.microsoft.com/office/powerpoint/2010/main" val="3438318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5349-68BE-67AE-2CF3-232DB648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3E5AE52-9C9E-7B9F-B270-F59D96D4072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60434F-4210-0448-4C82-D1225D8053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6703E27-3C52-99C4-7739-75720233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336" y="627493"/>
            <a:ext cx="8508999" cy="383381"/>
          </a:xfrm>
        </p:spPr>
        <p:txBody>
          <a:bodyPr vert="horz" rIns="0"/>
          <a:lstStyle/>
          <a:p>
            <a:r>
              <a:rPr kumimoji="1" lang="en-US" sz="3200" dirty="0"/>
              <a:t>Outline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E1E868-8B06-6977-5FDB-15EFE393F75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0381" y="1324439"/>
            <a:ext cx="4433404" cy="2823800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99999"/>
                </a:solidFill>
              </a:rPr>
              <a:t>Introduction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 Statement and Research Gap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sz="1600" dirty="0"/>
              <a:t>Objective &amp; Methodology </a:t>
            </a:r>
          </a:p>
        </p:txBody>
      </p:sp>
    </p:spTree>
    <p:extLst>
      <p:ext uri="{BB962C8B-B14F-4D97-AF65-F5344CB8AC3E}">
        <p14:creationId xmlns:p14="http://schemas.microsoft.com/office/powerpoint/2010/main" val="1094282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AC9A1-CE2A-FDB8-3BB9-F4C94D284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B7E3579-FB38-CEF0-0842-BC19C600F01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123666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1830E21-E641-FC06-D1A9-58EAE43EBE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A9C931F-9584-9BD2-D9A8-7816FEEF2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58" y="115367"/>
            <a:ext cx="8508999" cy="380745"/>
          </a:xfrm>
        </p:spPr>
        <p:txBody>
          <a:bodyPr vert="horz" rIns="0">
            <a:spAutoFit/>
          </a:bodyPr>
          <a:lstStyle/>
          <a:p>
            <a:r>
              <a:rPr kumimoji="1" lang="en-US" dirty="0"/>
              <a:t>Objectives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9E4A809-B871-E64F-F16C-C1F9CBA42557}"/>
              </a:ext>
            </a:extLst>
          </p:cNvPr>
          <p:cNvGrpSpPr/>
          <p:nvPr/>
        </p:nvGrpSpPr>
        <p:grpSpPr>
          <a:xfrm>
            <a:off x="4665479" y="1851541"/>
            <a:ext cx="4365742" cy="1889868"/>
            <a:chOff x="1443981" y="473300"/>
            <a:chExt cx="4365742" cy="1889868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5A016DC2-E86D-24D6-1F64-018AAAF1E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3981" y="473300"/>
              <a:ext cx="4365742" cy="1889868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166698A-F27A-29E5-4F92-0155FB2D28D2}"/>
                </a:ext>
              </a:extLst>
            </p:cNvPr>
            <p:cNvSpPr/>
            <p:nvPr/>
          </p:nvSpPr>
          <p:spPr>
            <a:xfrm>
              <a:off x="2100404" y="767213"/>
              <a:ext cx="1385180" cy="1595955"/>
            </a:xfrm>
            <a:prstGeom prst="rect">
              <a:avLst/>
            </a:prstGeom>
            <a:solidFill>
              <a:srgbClr val="00B05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kumimoji="1" 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9DEF938-65E2-7476-C94B-4E5CB7614667}"/>
                </a:ext>
              </a:extLst>
            </p:cNvPr>
            <p:cNvSpPr/>
            <p:nvPr/>
          </p:nvSpPr>
          <p:spPr>
            <a:xfrm>
              <a:off x="3626851" y="767213"/>
              <a:ext cx="1850495" cy="1595955"/>
            </a:xfrm>
            <a:prstGeom prst="rect">
              <a:avLst/>
            </a:prstGeom>
            <a:solidFill>
              <a:srgbClr val="0070C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kumimoji="1" lang="en-US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75394E26-EF3E-D4BF-D90A-CBAF5148C569}"/>
              </a:ext>
            </a:extLst>
          </p:cNvPr>
          <p:cNvSpPr txBox="1"/>
          <p:nvPr/>
        </p:nvSpPr>
        <p:spPr>
          <a:xfrm>
            <a:off x="461727" y="790025"/>
            <a:ext cx="7742504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sz="1600" b="1" dirty="0">
                <a:latin typeface="+mn-lt"/>
              </a:rPr>
              <a:t>Core objective: </a:t>
            </a:r>
            <a:r>
              <a:rPr kumimoji="1" lang="en-US" sz="1600" dirty="0">
                <a:latin typeface="+mn-lt"/>
              </a:rPr>
              <a:t>Develop a Optimized Modulation and Control Scheme for MMC-SST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6F020FA-7FB8-C180-550A-39A670237F2F}"/>
                  </a:ext>
                </a:extLst>
              </p:cNvPr>
              <p:cNvSpPr txBox="1"/>
              <p:nvPr/>
            </p:nvSpPr>
            <p:spPr>
              <a:xfrm>
                <a:off x="445156" y="1190522"/>
                <a:ext cx="3974471" cy="3704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b="1" dirty="0"/>
                  <a:t>Specific Goals (Key Performance Indicators):</a:t>
                </a:r>
                <a:endParaRPr lang="en-US" sz="16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𝑆𝑊</m:t>
                        </m:r>
                      </m:sub>
                    </m:sSub>
                  </m:oMath>
                </a14:m>
                <a:r>
                  <a:rPr lang="en-US" sz="1600" dirty="0"/>
                  <a:t> in SMs: Reduce switching losses in the MMC arms.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Maximize MFT Efficiency: Ensure high-frequency operation in the isolation stage.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Capacitor Voltage Balancing: Maintain stable DC voltages across all sub-modules without excessive sorting actions.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Wide range ZVS for DC-DC stage: Develop modulation scheme that has a wider range for ZVS than PSPWM.</a:t>
                </a:r>
              </a:p>
              <a:p>
                <a:pPr>
                  <a:lnSpc>
                    <a:spcPct val="114000"/>
                  </a:lnSpc>
                </a:pPr>
                <a:r>
                  <a:rPr kumimoji="1" lang="en-US" sz="1600" dirty="0">
                    <a:latin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6F020FA-7FB8-C180-550A-39A670237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56" y="1190522"/>
                <a:ext cx="3974471" cy="3704347"/>
              </a:xfrm>
              <a:prstGeom prst="rect">
                <a:avLst/>
              </a:prstGeom>
              <a:blipFill>
                <a:blip r:embed="rId7"/>
                <a:stretch>
                  <a:fillRect l="-3195" t="-1706" r="-2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23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E2F0E-0610-463F-7E79-4A6A0B227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E90BFC-5125-6636-08B3-6BA3F30A485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493974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92465F7-3E27-687F-FC49-0826113256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45C9690-99D7-73D6-2B32-610AE51F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58" y="115367"/>
            <a:ext cx="8508999" cy="380745"/>
          </a:xfrm>
        </p:spPr>
        <p:txBody>
          <a:bodyPr vert="horz" rIns="0">
            <a:spAutoFit/>
          </a:bodyPr>
          <a:lstStyle/>
          <a:p>
            <a:r>
              <a:rPr kumimoji="1" lang="en-US" dirty="0"/>
              <a:t>Methodology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9E1FC7-06CA-0679-CCAD-775241B9D6F5}"/>
              </a:ext>
            </a:extLst>
          </p:cNvPr>
          <p:cNvSpPr txBox="1"/>
          <p:nvPr/>
        </p:nvSpPr>
        <p:spPr>
          <a:xfrm>
            <a:off x="646194" y="2072669"/>
            <a:ext cx="65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endParaRPr kumimoji="1" lang="en-US" sz="1600" dirty="0" err="1">
              <a:latin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1FEF2C3-58B7-09F5-302F-F39F65CAC5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19" y="867837"/>
            <a:ext cx="1471735" cy="138387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2FD5289-36A7-A397-A466-65249E5A3F0E}"/>
              </a:ext>
            </a:extLst>
          </p:cNvPr>
          <p:cNvSpPr txBox="1"/>
          <p:nvPr/>
        </p:nvSpPr>
        <p:spPr>
          <a:xfrm>
            <a:off x="258005" y="2299868"/>
            <a:ext cx="2351310" cy="1488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sz="1600" b="1" dirty="0">
                <a:latin typeface="+mn-lt"/>
              </a:rPr>
              <a:t>Mathematical modeling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+mn-lt"/>
              </a:rPr>
              <a:t>AC-AC MMC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+mn-lt"/>
              </a:rPr>
              <a:t>DAB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+mn-lt"/>
              </a:rPr>
              <a:t>Analysis of existed modulation and control methods for MMC-SST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15D494-C264-103A-E1B1-9B6D9A9D0336}"/>
              </a:ext>
            </a:extLst>
          </p:cNvPr>
          <p:cNvSpPr txBox="1"/>
          <p:nvPr/>
        </p:nvSpPr>
        <p:spPr>
          <a:xfrm>
            <a:off x="3003880" y="2201294"/>
            <a:ext cx="2749641" cy="25055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sz="1600" b="1" dirty="0">
                <a:latin typeface="+mn-lt"/>
              </a:rPr>
              <a:t>Research on modulation and control optimization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400" b="1" dirty="0">
                <a:latin typeface="+mn-lt"/>
              </a:rPr>
              <a:t>Hybrid modulation</a:t>
            </a:r>
            <a:r>
              <a:rPr kumimoji="1" lang="en-US" sz="1400" dirty="0">
                <a:latin typeface="+mn-lt"/>
              </a:rPr>
              <a:t> scheme for MMC AC-AC stage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400" b="1" dirty="0">
                <a:latin typeface="+mn-lt"/>
              </a:rPr>
              <a:t>Pulse amplitude control (PAC) </a:t>
            </a:r>
            <a:r>
              <a:rPr kumimoji="1" lang="en-US" sz="1400" dirty="0">
                <a:latin typeface="+mn-lt"/>
              </a:rPr>
              <a:t>for the DAB DC-DC stage for wide range ZVC</a:t>
            </a:r>
            <a:endParaRPr kumimoji="1" lang="en-US" sz="1200" b="1" dirty="0">
              <a:latin typeface="+mn-lt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+mn-lt"/>
              </a:rPr>
              <a:t>C code to implementing </a:t>
            </a:r>
            <a:r>
              <a:rPr kumimoji="1" lang="en-US" sz="1400" b="1" dirty="0">
                <a:latin typeface="+mn-lt"/>
              </a:rPr>
              <a:t>voltage balancing </a:t>
            </a:r>
            <a:r>
              <a:rPr kumimoji="1" lang="en-US" sz="1400" dirty="0">
                <a:latin typeface="+mn-lt"/>
              </a:rPr>
              <a:t>for submodules.</a:t>
            </a:r>
            <a:endParaRPr kumimoji="1" lang="en-US" sz="1600" dirty="0">
              <a:latin typeface="+mn-lt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986C57A-99DB-EC6C-B7F0-073DF2E85A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432" y="867837"/>
            <a:ext cx="1798057" cy="138387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17B70E4-4649-14C8-A1D7-13DCE70C0363}"/>
              </a:ext>
            </a:extLst>
          </p:cNvPr>
          <p:cNvSpPr txBox="1"/>
          <p:nvPr/>
        </p:nvSpPr>
        <p:spPr>
          <a:xfrm>
            <a:off x="6273864" y="2343242"/>
            <a:ext cx="2223942" cy="15232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sz="1600" b="1" dirty="0">
                <a:latin typeface="+mn-lt"/>
              </a:rPr>
              <a:t>Simulation verification using PLECS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+mn-lt"/>
              </a:rPr>
              <a:t>Verifying the method using PLECS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+mn-lt"/>
              </a:rPr>
              <a:t>Compared the proposed method with the existing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AF12E2E-5506-FEE5-06EF-7FAEB8E2A9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1775" y="795786"/>
            <a:ext cx="1573835" cy="1247781"/>
          </a:xfrm>
          <a:prstGeom prst="rect">
            <a:avLst/>
          </a:prstGeom>
        </p:spPr>
      </p:pic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1F202D50-F740-76CA-6C07-EA548F350C08}"/>
              </a:ext>
            </a:extLst>
          </p:cNvPr>
          <p:cNvCxnSpPr/>
          <p:nvPr/>
        </p:nvCxnSpPr>
        <p:spPr>
          <a:xfrm>
            <a:off x="2713055" y="935881"/>
            <a:ext cx="0" cy="34954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D0154FA5-7E7A-E75F-1D50-7CE522858468}"/>
              </a:ext>
            </a:extLst>
          </p:cNvPr>
          <p:cNvCxnSpPr/>
          <p:nvPr/>
        </p:nvCxnSpPr>
        <p:spPr>
          <a:xfrm>
            <a:off x="5920154" y="1050617"/>
            <a:ext cx="0" cy="34954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4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72B19-286B-3368-84D8-1D832BB1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27ABB2C-404D-BBF4-48AB-A5C16B9E2C2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92105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60E1FB-4A19-8451-FC3A-5BFB11C6F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B76FEC-1AD9-005E-5A64-1671371A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" y="345567"/>
            <a:ext cx="8508999" cy="380745"/>
          </a:xfrm>
        </p:spPr>
        <p:txBody>
          <a:bodyPr vert="horz" rIns="0">
            <a:spAutoFit/>
          </a:bodyPr>
          <a:lstStyle/>
          <a:p>
            <a:r>
              <a:rPr lang="en-US" dirty="0"/>
              <a:t>Expected Outcome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3687521-8D77-91B2-3DFA-372081227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459" y="1636486"/>
            <a:ext cx="79248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Theoretical Model: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Mathematical derivation of the modulation strategy.</a:t>
            </a: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Model: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complete, running MMC-SST model in PLECS.</a:t>
            </a:r>
          </a:p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Comparison (The Evidence):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hangingPunct="0">
              <a:buFontTx/>
              <a:buChar char="•"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 </a:t>
            </a:r>
          </a:p>
          <a:p>
            <a:pPr lvl="1" eaLnBrk="0" hangingPunct="0">
              <a:buFontTx/>
              <a:buChar char="•"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THD Analysis </a:t>
            </a:r>
          </a:p>
          <a:p>
            <a:pPr lvl="1" eaLnBrk="0" hangingPunct="0">
              <a:buFontTx/>
              <a:buChar char="•"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Switching Count Reduction </a:t>
            </a:r>
          </a:p>
          <a:p>
            <a:pPr eaLnBrk="0" hangingPunct="0">
              <a:buFontTx/>
              <a:buChar char="•"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Contribution: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novel balancing algorithm that decouples sampling frequency from switching frequency.</a:t>
            </a:r>
          </a:p>
        </p:txBody>
      </p:sp>
    </p:spTree>
    <p:extLst>
      <p:ext uri="{BB962C8B-B14F-4D97-AF65-F5344CB8AC3E}">
        <p14:creationId xmlns:p14="http://schemas.microsoft.com/office/powerpoint/2010/main" val="1868918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F0DE-F53B-0F20-A1BC-DA444FFE2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think-cell data - do not delete" hidden="1">
            <a:extLst>
              <a:ext uri="{FF2B5EF4-FFF2-40B4-BE49-F238E27FC236}">
                <a16:creationId xmlns:a16="http://schemas.microsoft.com/office/drawing/2014/main" id="{AFC5DABA-58CA-2504-08D2-1A08E0C8CD0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138093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4" imgW="7772400" imgH="10058400" progId="TCLayout.ActiveDocument.1">
                  <p:embed/>
                </p:oleObj>
              </mc:Choice>
              <mc:Fallback>
                <p:oleObj name="think-cell Slide" r:id="rId1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560A0A-A0A3-A558-8574-9F0A544FF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752780-BE77-8AAF-1361-6BB04EFD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88" y="345567"/>
            <a:ext cx="8508999" cy="380745"/>
          </a:xfrm>
        </p:spPr>
        <p:txBody>
          <a:bodyPr vert="horz" rIns="0">
            <a:spAutoFit/>
          </a:bodyPr>
          <a:lstStyle/>
          <a:p>
            <a:r>
              <a:rPr lang="en-US" dirty="0"/>
              <a:t>Timeline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B5FDD44-72EE-2501-8CFC-93B52EC509C6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260475" y="928688"/>
            <a:ext cx="181292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80F36785-CCF6-4DDC-97E2-D1B836ECD056}" type="datetime'''''''''''2''''''''''''''0''''''2''''''''5'''">
              <a:rPr lang="en-US" altLang="en-US" sz="1400" b="1" smtClean="0">
                <a:solidFill>
                  <a:schemeClr val="tx1"/>
                </a:solidFill>
                <a:effectLst/>
              </a:rPr>
              <a:pPr>
                <a:lnSpc>
                  <a:spcPct val="114000"/>
                </a:lnSpc>
              </a:pPr>
              <a:t>2025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2BCF91A-0918-894C-55E0-31BD70D0BB4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073400" y="928688"/>
            <a:ext cx="48450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8F2F7DD1-2FC0-4735-ACAA-681FB00FA653}" type="datetime'''''2''''''''''''''''0''2''''''''''''''''6'''''''''''''''''''">
              <a:rPr lang="en-US" altLang="en-US" sz="1400" b="1" smtClean="0">
                <a:solidFill>
                  <a:schemeClr val="tx1"/>
                </a:solidFill>
              </a:rPr>
              <a:pPr/>
              <a:t>2026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9E2D35E-5695-2408-D345-F65D578972A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260475" y="1219200"/>
            <a:ext cx="8445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8C5BBC45-3950-4845-AF84-5FDCA910AFA8}" type="datetime'''''''N''''''''''''''''''''''''''''''''''''''''''''o''''''v'">
              <a:rPr lang="en-US" altLang="en-US" sz="1400" b="1" smtClean="0">
                <a:solidFill>
                  <a:schemeClr val="tx1"/>
                </a:solidFill>
              </a:rPr>
              <a:pPr/>
              <a:t>Nov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77E09E7-5D3D-0D3F-4D2F-D4F7EFBC66E6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2105025" y="1219200"/>
            <a:ext cx="9683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0CB37ACC-7AE0-4BE0-946B-367AFD20EDB7}" type="datetime'''''''''''''''''''De''''c'''''''''''''''''''''''''''''">
              <a:rPr lang="en-US" altLang="en-US" sz="1400" b="1" smtClean="0">
                <a:solidFill>
                  <a:schemeClr val="tx1"/>
                </a:solidFill>
                <a:effectLst/>
              </a:rPr>
              <a:pPr>
                <a:lnSpc>
                  <a:spcPct val="114000"/>
                </a:lnSpc>
              </a:pPr>
              <a:t>Dec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ABE53E3-CD43-D42E-4081-4F255AA3568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3073400" y="1219200"/>
            <a:ext cx="9683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728CCDF9-D087-4FDD-9492-334906F8CA8D}" type="datetime'''''''''J''''''''a''''''''''''''n'''''''''''''''''''''''">
              <a:rPr lang="en-US" altLang="en-US" sz="1400" b="1" smtClean="0">
                <a:solidFill>
                  <a:schemeClr val="tx1"/>
                </a:solidFill>
              </a:rPr>
              <a:pPr/>
              <a:t>Jan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D6547BA-47A4-573B-08A9-0878FB5AE75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4041775" y="1219200"/>
            <a:ext cx="8763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AE78F417-682B-49F3-8375-8FE899BE01DB}" type="datetime'''''''''F''''''''''''e''b'''''''''''''''''''''''">
              <a:rPr lang="en-US" altLang="en-US" sz="1400" b="1" smtClean="0">
                <a:solidFill>
                  <a:schemeClr val="tx1"/>
                </a:solidFill>
              </a:rPr>
              <a:pPr/>
              <a:t>Feb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7FE56AC-9B6F-1C43-BC9E-D183F340F4D2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4918075" y="1219200"/>
            <a:ext cx="9683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7C738533-F9DB-4282-9637-348C70792C65}" type="datetime'''''M''''''''a''''''''''''''''''r'''''''''''''''''''''''''''">
              <a:rPr lang="en-US" altLang="en-US" sz="1400" b="1" smtClean="0">
                <a:solidFill>
                  <a:schemeClr val="tx1"/>
                </a:solidFill>
              </a:rPr>
              <a:pPr/>
              <a:t>Mar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FF309D8-1C9D-BEC7-86F6-AA7500DCE8D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886450" y="1219200"/>
            <a:ext cx="938213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360E46CC-61FB-459F-9C04-9C8D134D0CAA}" type="datetime'''''''''''''''''''''''''''''''''''A''''''p''r'''''''">
              <a:rPr lang="en-US" altLang="en-US" sz="1400" b="1" smtClean="0">
                <a:solidFill>
                  <a:schemeClr val="tx1"/>
                </a:solidFill>
              </a:rPr>
              <a:pPr/>
              <a:t>Apr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BE746D7F-212C-8F0A-09FC-7B3FF4A648CF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6824663" y="1219200"/>
            <a:ext cx="9683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EC736752-68A0-4566-B166-1E25D0A2BC26}" type="datetime'''''''M''''''''''''''''''''a''y'''''''''''''''''">
              <a:rPr lang="en-US" altLang="en-US" sz="1400" b="1" smtClean="0">
                <a:solidFill>
                  <a:schemeClr val="tx1"/>
                </a:solidFill>
              </a:rPr>
              <a:pPr/>
              <a:t>May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7C37D8D-BA80-202A-F0B6-585F6A048099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793038" y="1219200"/>
            <a:ext cx="125413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3813" rIns="0" bIns="238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BFCFF9D-4B65-C580-2C77-5B96A833A72A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H="1">
            <a:off x="1260475" y="1219200"/>
            <a:ext cx="17573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3F58C22-4969-A0E5-3151-73B1B080067D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 flipH="1">
            <a:off x="3073400" y="1219200"/>
            <a:ext cx="484505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63DAEF6-5C40-5748-65C5-031E0B77ABFC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260475" y="1509713"/>
            <a:ext cx="0" cy="293846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CA5B39DB-EBFB-BBB5-16A2-89473C057623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073400" y="1509713"/>
            <a:ext cx="0" cy="293846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A65FCA9-80E1-7C99-D657-542BC0C3C928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7918450" y="1509713"/>
            <a:ext cx="0" cy="293846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2BD811E6-4F11-15BA-9BC2-6BC542BD26BF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5573713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8280FEC1-5073-5B34-5101-3491821947BA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5886450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2AB402E-2A2B-D740-3BA3-B4FAF70A8686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7762875" y="1509712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9C345D46-E96F-6824-A34E-E32C552A1FC8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7543800" y="1509712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9DEFBF4-CCA7-36B1-C777-82B5DE72413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324725" y="1509712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9B774C17-09F6-C1EE-9632-B557BC803ED1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7105650" y="1509712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D2175A7-2A1C-9BC1-1C50-AFE7D6012A95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6886575" y="1509712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ACBC547F-03CA-BA94-F190-4244BDC89E03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6667500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26A9ABB-301C-36BD-3DA5-8127120F789C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6450013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8B18ED3-FB66-F25F-0C9E-2701B89F581B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6230938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B893EBF-3F7B-4DD7-49CA-B9516A9A5939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6011863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17148E93-7BCA-4AF2-1EAF-945CC564CE73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5792788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539B07D-CFA6-8927-B76A-BBD23E2C57AB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>
            <a:off x="2105025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E36A1F8-DD6D-F6BA-F4C4-6164209E0F1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5354638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69420659-BD5A-9A30-E9B4-DD7280CE1373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5137150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598C8B67-80A6-5815-E2D3-6658BFC6FA5F}"/>
              </a:ext>
            </a:extLst>
          </p:cNvPr>
          <p:cNvCxnSpPr/>
          <p:nvPr>
            <p:custDataLst>
              <p:tags r:id="rId32"/>
            </p:custDataLst>
          </p:nvPr>
        </p:nvCxnSpPr>
        <p:spPr bwMode="auto">
          <a:xfrm>
            <a:off x="4699000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D7D67ED6-C207-F76F-6D89-BB91B6CC15DA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>
            <a:off x="4479925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90F8B96F-AB47-F727-E278-CDDD8C2CF0D3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4260850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55F638F-2C5C-BCCD-E169-6AF62F8B8D6F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3824288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C304E06-B47F-E147-CC02-727799D14432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3605213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F236F905-1AF3-7DFA-71CE-BA5733B57C9D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3386138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EB5C0B4-FC6C-BD76-479C-A68F3FDF637C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>
            <a:off x="3167063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879E717-6DA0-6B3F-46B4-C01325757A3E}"/>
              </a:ext>
            </a:extLst>
          </p:cNvPr>
          <p:cNvCxnSpPr/>
          <p:nvPr>
            <p:custDataLst>
              <p:tags r:id="rId39"/>
            </p:custDataLst>
          </p:nvPr>
        </p:nvCxnSpPr>
        <p:spPr bwMode="auto">
          <a:xfrm>
            <a:off x="2947988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02620E9-7D8C-2774-406B-353E21A13E7B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>
            <a:off x="2728913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1BFDB8E-B568-3B17-33E6-66958C68C4BE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2511425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1E9AE52-6EEC-67CD-257C-A75F797E84D9}"/>
              </a:ext>
            </a:extLst>
          </p:cNvPr>
          <p:cNvCxnSpPr/>
          <p:nvPr>
            <p:custDataLst>
              <p:tags r:id="rId42"/>
            </p:custDataLst>
          </p:nvPr>
        </p:nvCxnSpPr>
        <p:spPr bwMode="auto">
          <a:xfrm>
            <a:off x="2292350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9A06F81-B3F0-05C1-E8E9-2CCEE86E0F5C}"/>
              </a:ext>
            </a:extLst>
          </p:cNvPr>
          <p:cNvCxnSpPr/>
          <p:nvPr>
            <p:custDataLst>
              <p:tags r:id="rId43"/>
            </p:custDataLst>
          </p:nvPr>
        </p:nvCxnSpPr>
        <p:spPr bwMode="auto">
          <a:xfrm>
            <a:off x="2073275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129C74D-9DDE-08C4-56D5-0E2793D668A4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1854200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EC0B099-55D1-AB51-44AC-C0981213740D}"/>
              </a:ext>
            </a:extLst>
          </p:cNvPr>
          <p:cNvCxnSpPr/>
          <p:nvPr>
            <p:custDataLst>
              <p:tags r:id="rId45"/>
            </p:custDataLst>
          </p:nvPr>
        </p:nvCxnSpPr>
        <p:spPr bwMode="auto">
          <a:xfrm>
            <a:off x="1635125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792FFF6-E254-ABFA-FDB5-84A4C09A894D}"/>
              </a:ext>
            </a:extLst>
          </p:cNvPr>
          <p:cNvCxnSpPr/>
          <p:nvPr>
            <p:custDataLst>
              <p:tags r:id="rId46"/>
            </p:custDataLst>
          </p:nvPr>
        </p:nvCxnSpPr>
        <p:spPr bwMode="auto">
          <a:xfrm>
            <a:off x="1416050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55F33B3-4EFA-A4D6-0317-4B5D63889E36}"/>
              </a:ext>
            </a:extLst>
          </p:cNvPr>
          <p:cNvCxnSpPr/>
          <p:nvPr>
            <p:custDataLst>
              <p:tags r:id="rId47"/>
            </p:custDataLst>
          </p:nvPr>
        </p:nvCxnSpPr>
        <p:spPr bwMode="auto">
          <a:xfrm>
            <a:off x="4041775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E30D693-A8E0-0F20-9424-F30B064F42D7}"/>
              </a:ext>
            </a:extLst>
          </p:cNvPr>
          <p:cNvCxnSpPr/>
          <p:nvPr>
            <p:custDataLst>
              <p:tags r:id="rId48"/>
            </p:custDataLst>
          </p:nvPr>
        </p:nvCxnSpPr>
        <p:spPr bwMode="auto">
          <a:xfrm>
            <a:off x="7793038" y="1509712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6941126-3CA4-DECA-BDE4-15C0FEB7CD42}"/>
              </a:ext>
            </a:extLst>
          </p:cNvPr>
          <p:cNvCxnSpPr/>
          <p:nvPr>
            <p:custDataLst>
              <p:tags r:id="rId49"/>
            </p:custDataLst>
          </p:nvPr>
        </p:nvCxnSpPr>
        <p:spPr bwMode="auto">
          <a:xfrm>
            <a:off x="6824663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8E1F13D-61EB-0BBA-A88F-8E8876760449}"/>
              </a:ext>
            </a:extLst>
          </p:cNvPr>
          <p:cNvCxnSpPr/>
          <p:nvPr>
            <p:custDataLst>
              <p:tags r:id="rId50"/>
            </p:custDataLst>
          </p:nvPr>
        </p:nvCxnSpPr>
        <p:spPr bwMode="auto">
          <a:xfrm>
            <a:off x="4918075" y="1509713"/>
            <a:ext cx="0" cy="2938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ECE60FD-BAA3-C97A-804A-E91FA193CDF4}"/>
              </a:ext>
            </a:extLst>
          </p:cNvPr>
          <p:cNvCxnSpPr/>
          <p:nvPr>
            <p:custDataLst>
              <p:tags r:id="rId51"/>
            </p:custDataLst>
          </p:nvPr>
        </p:nvCxnSpPr>
        <p:spPr bwMode="auto">
          <a:xfrm>
            <a:off x="104775" y="3668713"/>
            <a:ext cx="8426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7FF5F51-9E37-9D18-2513-7EBB8EEE6237}"/>
              </a:ext>
            </a:extLst>
          </p:cNvPr>
          <p:cNvCxnSpPr/>
          <p:nvPr>
            <p:custDataLst>
              <p:tags r:id="rId52"/>
            </p:custDataLst>
          </p:nvPr>
        </p:nvCxnSpPr>
        <p:spPr bwMode="auto">
          <a:xfrm>
            <a:off x="104775" y="2889250"/>
            <a:ext cx="84264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DB14AC6-7340-0CE7-E6F1-252C84D37696}"/>
              </a:ext>
            </a:extLst>
          </p:cNvPr>
          <p:cNvCxnSpPr/>
          <p:nvPr>
            <p:custDataLst>
              <p:tags r:id="rId53"/>
            </p:custDataLst>
          </p:nvPr>
        </p:nvCxnSpPr>
        <p:spPr bwMode="auto">
          <a:xfrm>
            <a:off x="104775" y="4448175"/>
            <a:ext cx="842645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50D48403-1031-A850-3895-700EB55BEC0C}"/>
              </a:ext>
            </a:extLst>
          </p:cNvPr>
          <p:cNvCxnSpPr/>
          <p:nvPr>
            <p:custDataLst>
              <p:tags r:id="rId54"/>
            </p:custDataLst>
          </p:nvPr>
        </p:nvCxnSpPr>
        <p:spPr bwMode="auto">
          <a:xfrm>
            <a:off x="2447925" y="1509713"/>
            <a:ext cx="0" cy="3114675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06B75D5-94A0-7482-74FD-75C0B3045BCA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104775" y="1509713"/>
            <a:ext cx="842645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2" name="Rectangle 441">
            <a:extLst>
              <a:ext uri="{FF2B5EF4-FFF2-40B4-BE49-F238E27FC236}">
                <a16:creationId xmlns:a16="http://schemas.microsoft.com/office/drawing/2014/main" id="{E491228A-0ECC-5FFF-F80A-F7A1DE29DA0A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5792788" y="3228975"/>
            <a:ext cx="938213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497BE334-DEB0-21FC-05DB-B136A0AE8433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5605463" y="4008438"/>
            <a:ext cx="1687512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A8313546-D060-6DBE-1848-E7DE5858B0F2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3824288" y="2449513"/>
            <a:ext cx="717550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77C9223C-E605-E387-7318-668D062CC54C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4479926" y="3228975"/>
            <a:ext cx="874713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6F7A5DF6-0CF7-BC9C-83BE-EF8375713A65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4260850" y="4008438"/>
            <a:ext cx="1157288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F3786246-0C6D-CE8F-4925-EADA2CA40416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4448175" y="1849438"/>
            <a:ext cx="719138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CA9754CE-C376-35A0-FA16-EE0DD4644B77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3260725" y="4008438"/>
            <a:ext cx="750888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3EE4DDF4-AF5E-058F-A179-D6EEE4ED2C77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2947988" y="3228975"/>
            <a:ext cx="1000125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ABFDFC0A-272D-4A3E-4BE4-E5DEDC201E89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2947988" y="2449513"/>
            <a:ext cx="719138" cy="98425"/>
          </a:xfrm>
          <a:prstGeom prst="rect">
            <a:avLst/>
          </a:prstGeom>
          <a:solidFill>
            <a:srgbClr val="1736B6"/>
          </a:solidFill>
          <a:ln w="19050" cap="flat" cmpd="sng" algn="ctr">
            <a:noFill/>
            <a:prstDash val="sysDot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tx1"/>
                </a:solidFill>
                <a:prstDash val="sysDot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5F39A15-5829-F7C3-D576-74900EFC2F37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3354388" y="1849438"/>
            <a:ext cx="906463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91E659C4-EF6C-8B00-AD08-8E0DEAADD060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2292350" y="2449513"/>
            <a:ext cx="531813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54D41B62-7A97-62E3-9D30-F53645A9012C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2198688" y="4008438"/>
            <a:ext cx="687388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D9011246-42D7-A0DD-C77A-436DFF938201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2166938" y="3228975"/>
            <a:ext cx="657225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7E3048E3-9423-1BE3-1E90-679D86EC3D1B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2135188" y="1849438"/>
            <a:ext cx="906463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A48E11A9-FA59-7A60-4A39-E2FBB37F98E2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541463" y="4008438"/>
            <a:ext cx="531813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CE17523E-52A7-4E1E-15DF-FDE41FF4B7E2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322388" y="2449513"/>
            <a:ext cx="782637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279EFEB1-E745-BD31-F982-6ADB6EA28D26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292225" y="3228975"/>
            <a:ext cx="781050" cy="98425"/>
          </a:xfrm>
          <a:prstGeom prst="rect">
            <a:avLst/>
          </a:prstGeom>
          <a:solidFill>
            <a:srgbClr val="173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613A4E83-D42A-ED33-6844-BFC51834B67F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1260475" y="1849438"/>
            <a:ext cx="750888" cy="98425"/>
          </a:xfrm>
          <a:prstGeom prst="rect">
            <a:avLst/>
          </a:prstGeom>
          <a:solidFill>
            <a:srgbClr val="1736B6"/>
          </a:solidFill>
          <a:ln w="190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27" name="Triangle 326">
            <a:extLst>
              <a:ext uri="{FF2B5EF4-FFF2-40B4-BE49-F238E27FC236}">
                <a16:creationId xmlns:a16="http://schemas.microsoft.com/office/drawing/2014/main" id="{683A1F39-E957-8295-FDA9-1D9565402FD0}"/>
              </a:ext>
            </a:extLst>
          </p:cNvPr>
          <p:cNvSpPr/>
          <p:nvPr>
            <p:custDataLst>
              <p:tags r:id="rId74"/>
            </p:custDataLst>
          </p:nvPr>
        </p:nvSpPr>
        <p:spPr bwMode="gray">
          <a:xfrm>
            <a:off x="7861300" y="4567238"/>
            <a:ext cx="114300" cy="114300"/>
          </a:xfrm>
          <a:prstGeom prst="triangle">
            <a:avLst/>
          </a:prstGeom>
          <a:solidFill>
            <a:schemeClr val="tx1"/>
          </a:solidFill>
          <a:ln w="9525" cmpd="sng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259" name="Triangle 258">
            <a:extLst>
              <a:ext uri="{FF2B5EF4-FFF2-40B4-BE49-F238E27FC236}">
                <a16:creationId xmlns:a16="http://schemas.microsoft.com/office/drawing/2014/main" id="{DB102158-6423-2A7E-6572-03C40B859CB0}"/>
              </a:ext>
            </a:extLst>
          </p:cNvPr>
          <p:cNvSpPr/>
          <p:nvPr>
            <p:custDataLst>
              <p:tags r:id="rId75"/>
            </p:custDataLst>
          </p:nvPr>
        </p:nvSpPr>
        <p:spPr bwMode="gray">
          <a:xfrm>
            <a:off x="5454650" y="4567238"/>
            <a:ext cx="114300" cy="114300"/>
          </a:xfrm>
          <a:prstGeom prst="triangle">
            <a:avLst/>
          </a:prstGeom>
          <a:solidFill>
            <a:schemeClr val="tx1"/>
          </a:solidFill>
          <a:ln w="9525" cmpd="sng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105" name="Triangle 104">
            <a:extLst>
              <a:ext uri="{FF2B5EF4-FFF2-40B4-BE49-F238E27FC236}">
                <a16:creationId xmlns:a16="http://schemas.microsoft.com/office/drawing/2014/main" id="{334E3443-43B0-E4FE-CB31-1DC02AA423BF}"/>
              </a:ext>
            </a:extLst>
          </p:cNvPr>
          <p:cNvSpPr/>
          <p:nvPr>
            <p:custDataLst>
              <p:tags r:id="rId76"/>
            </p:custDataLst>
          </p:nvPr>
        </p:nvSpPr>
        <p:spPr bwMode="gray">
          <a:xfrm>
            <a:off x="2390775" y="4567238"/>
            <a:ext cx="114300" cy="114300"/>
          </a:xfrm>
          <a:prstGeom prst="triangle">
            <a:avLst/>
          </a:prstGeom>
          <a:solidFill>
            <a:schemeClr val="tx1"/>
          </a:solidFill>
          <a:ln w="9525" cmpd="sng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263" name="Triangle 262">
            <a:extLst>
              <a:ext uri="{FF2B5EF4-FFF2-40B4-BE49-F238E27FC236}">
                <a16:creationId xmlns:a16="http://schemas.microsoft.com/office/drawing/2014/main" id="{111E177F-6552-8D44-A3BB-97161D89E415}"/>
              </a:ext>
            </a:extLst>
          </p:cNvPr>
          <p:cNvSpPr/>
          <p:nvPr>
            <p:custDataLst>
              <p:tags r:id="rId77"/>
            </p:custDataLst>
          </p:nvPr>
        </p:nvSpPr>
        <p:spPr bwMode="gray">
          <a:xfrm>
            <a:off x="7610475" y="4000500"/>
            <a:ext cx="114300" cy="114300"/>
          </a:xfrm>
          <a:prstGeom prst="triangle">
            <a:avLst/>
          </a:prstGeom>
          <a:solidFill>
            <a:schemeClr val="tx1"/>
          </a:solidFill>
          <a:ln w="9525" cmpd="sng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26369085-AA67-5E2F-F974-0900608205FA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8167688" y="2384425"/>
            <a:ext cx="187325" cy="187325"/>
          </a:xfrm>
          <a:prstGeom prst="ellipse">
            <a:avLst/>
          </a:prstGeom>
          <a:noFill/>
          <a:ln w="9525" cmpd="sng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75AA5588-AEF0-CB4F-3468-903565497EAC}"/>
              </a:ext>
            </a:extLst>
          </p:cNvPr>
          <p:cNvSpPr/>
          <p:nvPr>
            <p:custDataLst>
              <p:tags r:id="rId79"/>
            </p:custDataLst>
          </p:nvPr>
        </p:nvSpPr>
        <p:spPr bwMode="auto">
          <a:xfrm>
            <a:off x="8167688" y="3163888"/>
            <a:ext cx="187325" cy="187325"/>
          </a:xfrm>
          <a:prstGeom prst="ellipse">
            <a:avLst/>
          </a:prstGeom>
          <a:noFill/>
          <a:ln w="9525" cmpd="sng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ACDD67D2-0338-F3CD-94EC-85E94B91C40F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8167688" y="3943350"/>
            <a:ext cx="187325" cy="187325"/>
          </a:xfrm>
          <a:prstGeom prst="ellipse">
            <a:avLst/>
          </a:prstGeom>
          <a:noFill/>
          <a:ln w="9525" cmpd="sng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A1D6A40F-CF00-54D9-60AE-1A2543650B98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8167688" y="1784350"/>
            <a:ext cx="187325" cy="187325"/>
          </a:xfrm>
          <a:prstGeom prst="ellipse">
            <a:avLst/>
          </a:prstGeom>
          <a:noFill/>
          <a:ln w="9525" cmpd="sng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398" name="Arc 397">
            <a:extLst>
              <a:ext uri="{FF2B5EF4-FFF2-40B4-BE49-F238E27FC236}">
                <a16:creationId xmlns:a16="http://schemas.microsoft.com/office/drawing/2014/main" id="{232DB71D-9744-B115-3128-7480C6D6571B}"/>
              </a:ext>
            </a:extLst>
          </p:cNvPr>
          <p:cNvSpPr/>
          <p:nvPr>
            <p:custDataLst>
              <p:tags r:id="rId82"/>
            </p:custDataLst>
          </p:nvPr>
        </p:nvSpPr>
        <p:spPr bwMode="gray">
          <a:xfrm>
            <a:off x="8167688" y="1784350"/>
            <a:ext cx="187325" cy="187325"/>
          </a:xfrm>
          <a:prstGeom prst="arc">
            <a:avLst>
              <a:gd name="adj1" fmla="val 16200000"/>
              <a:gd name="adj2" fmla="val 1890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F4CA771-3656-253A-09AC-213B07FF7C56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104775" y="3937000"/>
            <a:ext cx="1084263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400" dirty="0">
                <a:solidFill>
                  <a:schemeClr val="tx1"/>
                </a:solidFill>
              </a:rPr>
              <a:t>Thesis writing</a:t>
            </a:r>
            <a:endParaRPr lang="en-US" sz="1400" dirty="0">
              <a:solidFill>
                <a:schemeClr val="tx1"/>
              </a:solidFill>
            </a:endParaRPr>
          </a:p>
        </p:txBody>
      </p:sp>
      <p:sp useBgFill="1">
        <p:nvSpPr>
          <p:cNvPr id="321" name="Rectangle 320">
            <a:extLst>
              <a:ext uri="{FF2B5EF4-FFF2-40B4-BE49-F238E27FC236}">
                <a16:creationId xmlns:a16="http://schemas.microsoft.com/office/drawing/2014/main" id="{4B1FAAE4-7F48-5AD5-68CA-AAAEEC835CCF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2265363" y="2565400"/>
            <a:ext cx="558800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tx1"/>
                </a:solidFill>
              </a:rPr>
              <a:t>DAB PS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5E87840-06F2-BB21-08B7-744A72EAFE3E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104775" y="1778000"/>
            <a:ext cx="758825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400" dirty="0">
                <a:solidFill>
                  <a:schemeClr val="tx1"/>
                </a:solidFill>
              </a:rPr>
              <a:t>Research</a:t>
            </a:r>
          </a:p>
        </p:txBody>
      </p:sp>
      <p:sp useBgFill="1">
        <p:nvSpPr>
          <p:cNvPr id="342" name="Rectangle 341">
            <a:extLst>
              <a:ext uri="{FF2B5EF4-FFF2-40B4-BE49-F238E27FC236}">
                <a16:creationId xmlns:a16="http://schemas.microsoft.com/office/drawing/2014/main" id="{A819C818-59F6-13E2-F269-BC80BDB9373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2884488" y="2565400"/>
            <a:ext cx="871538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>
                <a:solidFill>
                  <a:schemeClr val="tx1"/>
                </a:solidFill>
                <a:effectLst/>
              </a:rPr>
              <a:t>MMC AC-AC</a:t>
            </a:r>
            <a:endParaRPr lang="en-US" sz="1200" dirty="0">
              <a:solidFill>
                <a:schemeClr val="tx1"/>
              </a:solidFill>
            </a:endParaRPr>
          </a:p>
        </p:txBody>
      </p:sp>
      <p:sp useBgFill="1">
        <p:nvSpPr>
          <p:cNvPr id="358" name="Rectangle 357">
            <a:extLst>
              <a:ext uri="{FF2B5EF4-FFF2-40B4-BE49-F238E27FC236}">
                <a16:creationId xmlns:a16="http://schemas.microsoft.com/office/drawing/2014/main" id="{BEFD9955-1A5B-1206-E145-514312F2476D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4194175" y="1965325"/>
            <a:ext cx="1231900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>
                <a:solidFill>
                  <a:schemeClr val="tx1"/>
                </a:solidFill>
                <a:effectLst/>
              </a:rPr>
              <a:t>Proposing method</a:t>
            </a:r>
            <a:endParaRPr lang="en-US" sz="1200" dirty="0">
              <a:solidFill>
                <a:schemeClr val="tx1"/>
              </a:solidFill>
            </a:endParaRPr>
          </a:p>
        </p:txBody>
      </p:sp>
      <p:sp useBgFill="1">
        <p:nvSpPr>
          <p:cNvPr id="355" name="Rectangle 354">
            <a:extLst>
              <a:ext uri="{FF2B5EF4-FFF2-40B4-BE49-F238E27FC236}">
                <a16:creationId xmlns:a16="http://schemas.microsoft.com/office/drawing/2014/main" id="{BC6E7B0A-96AC-394B-D8D1-0066C7A50552}"/>
              </a:ext>
            </a:extLst>
          </p:cNvPr>
          <p:cNvSpPr/>
          <p:nvPr>
            <p:custDataLst>
              <p:tags r:id="rId88"/>
            </p:custDataLst>
          </p:nvPr>
        </p:nvSpPr>
        <p:spPr bwMode="auto">
          <a:xfrm>
            <a:off x="3854450" y="2565400"/>
            <a:ext cx="657225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tx1"/>
                </a:solidFill>
              </a:rPr>
              <a:t>DAB PAC</a:t>
            </a:r>
          </a:p>
        </p:txBody>
      </p:sp>
      <p:sp useBgFill="1">
        <p:nvSpPr>
          <p:cNvPr id="330" name="Rectangle 329">
            <a:extLst>
              <a:ext uri="{FF2B5EF4-FFF2-40B4-BE49-F238E27FC236}">
                <a16:creationId xmlns:a16="http://schemas.microsoft.com/office/drawing/2014/main" id="{892D3343-82A7-BD9F-86BD-05060836ABBD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3476625" y="1965325"/>
            <a:ext cx="657225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tx1"/>
                </a:solidFill>
              </a:rPr>
              <a:t>PAC DAB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E6C3DB4E-BF88-3ACA-1282-D1E8764FD99B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104775" y="2378075"/>
            <a:ext cx="719138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400" dirty="0">
                <a:solidFill>
                  <a:schemeClr val="tx1"/>
                </a:solidFill>
              </a:rPr>
              <a:t>Modeling</a:t>
            </a:r>
          </a:p>
        </p:txBody>
      </p:sp>
      <p:sp useBgFill="1">
        <p:nvSpPr>
          <p:cNvPr id="309" name="Rectangle 308">
            <a:extLst>
              <a:ext uri="{FF2B5EF4-FFF2-40B4-BE49-F238E27FC236}">
                <a16:creationId xmlns:a16="http://schemas.microsoft.com/office/drawing/2014/main" id="{A564E6D0-108D-21E9-CA80-8E11BC594D8F}"/>
              </a:ext>
            </a:extLst>
          </p:cNvPr>
          <p:cNvSpPr/>
          <p:nvPr>
            <p:custDataLst>
              <p:tags r:id="rId91"/>
            </p:custDataLst>
          </p:nvPr>
        </p:nvSpPr>
        <p:spPr bwMode="auto">
          <a:xfrm>
            <a:off x="2276475" y="1965325"/>
            <a:ext cx="741363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>
                <a:solidFill>
                  <a:schemeClr val="tx1"/>
                </a:solidFill>
                <a:effectLst/>
              </a:rPr>
              <a:t>modulation</a:t>
            </a:r>
            <a:endParaRPr lang="en-US" sz="1200" dirty="0">
              <a:solidFill>
                <a:schemeClr val="tx1"/>
              </a:solidFill>
            </a:endParaRPr>
          </a:p>
        </p:txBody>
      </p:sp>
      <p:sp useBgFill="1">
        <p:nvSpPr>
          <p:cNvPr id="317" name="Rectangle 316">
            <a:extLst>
              <a:ext uri="{FF2B5EF4-FFF2-40B4-BE49-F238E27FC236}">
                <a16:creationId xmlns:a16="http://schemas.microsoft.com/office/drawing/2014/main" id="{0690FA2B-E2EE-A0FA-9CA2-992BA58FD308}"/>
              </a:ext>
            </a:extLst>
          </p:cNvPr>
          <p:cNvSpPr/>
          <p:nvPr>
            <p:custDataLst>
              <p:tags r:id="rId92"/>
            </p:custDataLst>
          </p:nvPr>
        </p:nvSpPr>
        <p:spPr bwMode="auto">
          <a:xfrm>
            <a:off x="1176338" y="3344863"/>
            <a:ext cx="887413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tx1"/>
                </a:solidFill>
              </a:rPr>
              <a:t>MMC DC-AC</a:t>
            </a:r>
          </a:p>
        </p:txBody>
      </p:sp>
      <p:sp useBgFill="1">
        <p:nvSpPr>
          <p:cNvPr id="295" name="Rectangle 294">
            <a:extLst>
              <a:ext uri="{FF2B5EF4-FFF2-40B4-BE49-F238E27FC236}">
                <a16:creationId xmlns:a16="http://schemas.microsoft.com/office/drawing/2014/main" id="{47E66F9A-CF2C-928F-A569-C5D0C340E681}"/>
              </a:ext>
            </a:extLst>
          </p:cNvPr>
          <p:cNvSpPr/>
          <p:nvPr>
            <p:custDataLst>
              <p:tags r:id="rId93"/>
            </p:custDataLst>
          </p:nvPr>
        </p:nvSpPr>
        <p:spPr bwMode="auto">
          <a:xfrm>
            <a:off x="941388" y="1965325"/>
            <a:ext cx="1274763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>
                <a:solidFill>
                  <a:schemeClr val="tx1"/>
                </a:solidFill>
                <a:effectLst/>
              </a:rPr>
              <a:t>Literature research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6DC8F261-DF71-986A-7235-326ADEF6495D}"/>
              </a:ext>
            </a:extLst>
          </p:cNvPr>
          <p:cNvSpPr/>
          <p:nvPr>
            <p:custDataLst>
              <p:tags r:id="rId94"/>
            </p:custDataLst>
          </p:nvPr>
        </p:nvSpPr>
        <p:spPr bwMode="auto">
          <a:xfrm>
            <a:off x="104775" y="3157538"/>
            <a:ext cx="828675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400" dirty="0">
                <a:solidFill>
                  <a:schemeClr val="tx1"/>
                </a:solidFill>
                <a:effectLst/>
              </a:rPr>
              <a:t>Simulation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F24AD5C-2C07-AD36-D9F1-5A823DBC7C8C}"/>
              </a:ext>
            </a:extLst>
          </p:cNvPr>
          <p:cNvSpPr/>
          <p:nvPr>
            <p:custDataLst>
              <p:tags r:id="rId95"/>
            </p:custDataLst>
          </p:nvPr>
        </p:nvSpPr>
        <p:spPr bwMode="auto">
          <a:xfrm>
            <a:off x="7470775" y="4703763"/>
            <a:ext cx="895350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400" dirty="0">
                <a:solidFill>
                  <a:schemeClr val="tx1"/>
                </a:solidFill>
              </a:rPr>
              <a:t>Final report</a:t>
            </a:r>
            <a:endParaRPr lang="en-US" altLang="en-US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405" name="Arc 404">
            <a:extLst>
              <a:ext uri="{FF2B5EF4-FFF2-40B4-BE49-F238E27FC236}">
                <a16:creationId xmlns:a16="http://schemas.microsoft.com/office/drawing/2014/main" id="{33C3F22B-EE48-933A-309F-BA88CC5C2FBB}"/>
              </a:ext>
            </a:extLst>
          </p:cNvPr>
          <p:cNvSpPr/>
          <p:nvPr>
            <p:custDataLst>
              <p:tags r:id="rId96"/>
            </p:custDataLst>
          </p:nvPr>
        </p:nvSpPr>
        <p:spPr bwMode="gray">
          <a:xfrm>
            <a:off x="8167688" y="3163888"/>
            <a:ext cx="187325" cy="187325"/>
          </a:xfrm>
          <a:prstGeom prst="arc">
            <a:avLst>
              <a:gd name="adj1" fmla="val 16200000"/>
              <a:gd name="adj2" fmla="val 1890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64C1B44-F28C-D4CA-1D10-4E71441B4207}"/>
              </a:ext>
            </a:extLst>
          </p:cNvPr>
          <p:cNvSpPr/>
          <p:nvPr>
            <p:custDataLst>
              <p:tags r:id="rId97"/>
            </p:custDataLst>
          </p:nvPr>
        </p:nvSpPr>
        <p:spPr bwMode="auto">
          <a:xfrm>
            <a:off x="4937125" y="4703763"/>
            <a:ext cx="1150938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400" dirty="0">
                <a:solidFill>
                  <a:schemeClr val="tx1"/>
                </a:solidFill>
              </a:rPr>
              <a:t>Midterm report</a:t>
            </a:r>
            <a:endParaRPr lang="en-US" altLang="en-US" sz="1400" dirty="0">
              <a:solidFill>
                <a:schemeClr val="tx1"/>
              </a:solidFill>
              <a:effectLst/>
            </a:endParaRPr>
          </a:p>
        </p:txBody>
      </p:sp>
      <p:sp useBgFill="1">
        <p:nvSpPr>
          <p:cNvPr id="333" name="Rectangle 332">
            <a:extLst>
              <a:ext uri="{FF2B5EF4-FFF2-40B4-BE49-F238E27FC236}">
                <a16:creationId xmlns:a16="http://schemas.microsoft.com/office/drawing/2014/main" id="{FC792249-27CE-E1C5-F68D-08D990894282}"/>
              </a:ext>
            </a:extLst>
          </p:cNvPr>
          <p:cNvSpPr/>
          <p:nvPr>
            <p:custDataLst>
              <p:tags r:id="rId98"/>
            </p:custDataLst>
          </p:nvPr>
        </p:nvSpPr>
        <p:spPr bwMode="auto">
          <a:xfrm>
            <a:off x="1257300" y="4137025"/>
            <a:ext cx="793750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E6CCFB8-BA40-9362-1B6A-57AD919C2571}"/>
              </a:ext>
            </a:extLst>
          </p:cNvPr>
          <p:cNvSpPr/>
          <p:nvPr>
            <p:custDataLst>
              <p:tags r:id="rId99"/>
            </p:custDataLst>
          </p:nvPr>
        </p:nvSpPr>
        <p:spPr bwMode="auto">
          <a:xfrm>
            <a:off x="1985963" y="4703763"/>
            <a:ext cx="925513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400" dirty="0">
                <a:solidFill>
                  <a:schemeClr val="tx1"/>
                </a:solidFill>
                <a:effectLst/>
              </a:rPr>
              <a:t>Initial report</a:t>
            </a:r>
          </a:p>
        </p:txBody>
      </p:sp>
      <p:sp useBgFill="1">
        <p:nvSpPr>
          <p:cNvPr id="415" name="Rectangle 414">
            <a:extLst>
              <a:ext uri="{FF2B5EF4-FFF2-40B4-BE49-F238E27FC236}">
                <a16:creationId xmlns:a16="http://schemas.microsoft.com/office/drawing/2014/main" id="{B78D6FC3-B4D5-94AD-C16D-6618F7D4C055}"/>
              </a:ext>
            </a:extLst>
          </p:cNvPr>
          <p:cNvSpPr/>
          <p:nvPr>
            <p:custDataLst>
              <p:tags r:id="rId100"/>
            </p:custDataLst>
          </p:nvPr>
        </p:nvSpPr>
        <p:spPr bwMode="auto">
          <a:xfrm>
            <a:off x="2124075" y="3344863"/>
            <a:ext cx="871538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>
                <a:solidFill>
                  <a:schemeClr val="tx1"/>
                </a:solidFill>
                <a:effectLst/>
              </a:rPr>
              <a:t>MMC AC-AC</a:t>
            </a:r>
            <a:endParaRPr lang="en-US" sz="1200" dirty="0">
              <a:solidFill>
                <a:schemeClr val="tx1"/>
              </a:solidFill>
            </a:endParaRPr>
          </a:p>
        </p:txBody>
      </p:sp>
      <p:sp useBgFill="1">
        <p:nvSpPr>
          <p:cNvPr id="338" name="Rectangle 337">
            <a:extLst>
              <a:ext uri="{FF2B5EF4-FFF2-40B4-BE49-F238E27FC236}">
                <a16:creationId xmlns:a16="http://schemas.microsoft.com/office/drawing/2014/main" id="{BE125578-F431-9FF9-45DE-652C00C702C9}"/>
              </a:ext>
            </a:extLst>
          </p:cNvPr>
          <p:cNvSpPr/>
          <p:nvPr>
            <p:custDataLst>
              <p:tags r:id="rId101"/>
            </p:custDataLst>
          </p:nvPr>
        </p:nvSpPr>
        <p:spPr bwMode="auto">
          <a:xfrm>
            <a:off x="2111375" y="4137025"/>
            <a:ext cx="1165225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tx1"/>
                </a:solidFill>
              </a:rPr>
              <a:t>Existing research</a:t>
            </a:r>
          </a:p>
        </p:txBody>
      </p:sp>
      <p:sp useBgFill="1">
        <p:nvSpPr>
          <p:cNvPr id="419" name="Rectangle 418">
            <a:extLst>
              <a:ext uri="{FF2B5EF4-FFF2-40B4-BE49-F238E27FC236}">
                <a16:creationId xmlns:a16="http://schemas.microsoft.com/office/drawing/2014/main" id="{3B376695-1B72-B0B2-746B-F4591BC9FA08}"/>
              </a:ext>
            </a:extLst>
          </p:cNvPr>
          <p:cNvSpPr/>
          <p:nvPr>
            <p:custDataLst>
              <p:tags r:id="rId102"/>
            </p:custDataLst>
          </p:nvPr>
        </p:nvSpPr>
        <p:spPr bwMode="auto">
          <a:xfrm>
            <a:off x="3092450" y="3344863"/>
            <a:ext cx="711200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>
                <a:solidFill>
                  <a:schemeClr val="tx1"/>
                </a:solidFill>
                <a:effectLst/>
              </a:rPr>
              <a:t>MMC-SST</a:t>
            </a:r>
            <a:endParaRPr lang="en-US" sz="1200" dirty="0">
              <a:solidFill>
                <a:schemeClr val="tx1"/>
              </a:solidFill>
            </a:endParaRPr>
          </a:p>
        </p:txBody>
      </p:sp>
      <p:sp useBgFill="1">
        <p:nvSpPr>
          <p:cNvPr id="406" name="Rectangle 405">
            <a:extLst>
              <a:ext uri="{FF2B5EF4-FFF2-40B4-BE49-F238E27FC236}">
                <a16:creationId xmlns:a16="http://schemas.microsoft.com/office/drawing/2014/main" id="{859A7CB1-D336-79C7-EA01-66451D3A7157}"/>
              </a:ext>
            </a:extLst>
          </p:cNvPr>
          <p:cNvSpPr/>
          <p:nvPr>
            <p:custDataLst>
              <p:tags r:id="rId103"/>
            </p:custDataLst>
          </p:nvPr>
        </p:nvSpPr>
        <p:spPr bwMode="auto">
          <a:xfrm>
            <a:off x="3336925" y="4137025"/>
            <a:ext cx="793750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>
                <a:solidFill>
                  <a:schemeClr val="tx1"/>
                </a:solidFill>
                <a:effectLst/>
              </a:rPr>
              <a:t>Math model</a:t>
            </a:r>
            <a:endParaRPr lang="en-US" sz="1200" dirty="0">
              <a:solidFill>
                <a:schemeClr val="tx1"/>
              </a:solidFill>
            </a:endParaRPr>
          </a:p>
        </p:txBody>
      </p:sp>
      <p:sp useBgFill="1">
        <p:nvSpPr>
          <p:cNvPr id="427" name="Rectangle 426">
            <a:extLst>
              <a:ext uri="{FF2B5EF4-FFF2-40B4-BE49-F238E27FC236}">
                <a16:creationId xmlns:a16="http://schemas.microsoft.com/office/drawing/2014/main" id="{13B8B938-453A-67F2-4116-62B4152AEC4A}"/>
              </a:ext>
            </a:extLst>
          </p:cNvPr>
          <p:cNvSpPr/>
          <p:nvPr>
            <p:custDataLst>
              <p:tags r:id="rId104"/>
            </p:custDataLst>
          </p:nvPr>
        </p:nvSpPr>
        <p:spPr bwMode="auto">
          <a:xfrm>
            <a:off x="4240213" y="4137025"/>
            <a:ext cx="1198563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>
                <a:solidFill>
                  <a:schemeClr val="tx1"/>
                </a:solidFill>
                <a:effectLst/>
              </a:rPr>
              <a:t>Proposed method</a:t>
            </a:r>
            <a:endParaRPr lang="en-US" sz="1200" dirty="0">
              <a:solidFill>
                <a:schemeClr val="tx1"/>
              </a:solidFill>
            </a:endParaRPr>
          </a:p>
        </p:txBody>
      </p:sp>
      <p:sp useBgFill="1">
        <p:nvSpPr>
          <p:cNvPr id="261" name="Rectangle 260">
            <a:extLst>
              <a:ext uri="{FF2B5EF4-FFF2-40B4-BE49-F238E27FC236}">
                <a16:creationId xmlns:a16="http://schemas.microsoft.com/office/drawing/2014/main" id="{021D7A8B-6698-51A3-6C7A-DB5F584945FD}"/>
              </a:ext>
            </a:extLst>
          </p:cNvPr>
          <p:cNvSpPr/>
          <p:nvPr>
            <p:custDataLst>
              <p:tags r:id="rId105"/>
            </p:custDataLst>
          </p:nvPr>
        </p:nvSpPr>
        <p:spPr bwMode="auto">
          <a:xfrm>
            <a:off x="7010400" y="4137025"/>
            <a:ext cx="1458913" cy="24288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400" dirty="0">
                <a:solidFill>
                  <a:schemeClr val="tx1"/>
                </a:solidFill>
              </a:rPr>
              <a:t>Thesis submission</a:t>
            </a:r>
          </a:p>
        </p:txBody>
      </p:sp>
      <p:sp useBgFill="1">
        <p:nvSpPr>
          <p:cNvPr id="431" name="Rectangle 430">
            <a:extLst>
              <a:ext uri="{FF2B5EF4-FFF2-40B4-BE49-F238E27FC236}">
                <a16:creationId xmlns:a16="http://schemas.microsoft.com/office/drawing/2014/main" id="{81C8927E-B66F-18AF-61C9-3D6A2AAF52C9}"/>
              </a:ext>
            </a:extLst>
          </p:cNvPr>
          <p:cNvSpPr/>
          <p:nvPr>
            <p:custDataLst>
              <p:tags r:id="rId106"/>
            </p:custDataLst>
          </p:nvPr>
        </p:nvSpPr>
        <p:spPr bwMode="auto">
          <a:xfrm>
            <a:off x="5816600" y="4137025"/>
            <a:ext cx="1122363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>
                <a:solidFill>
                  <a:schemeClr val="tx1"/>
                </a:solidFill>
                <a:effectLst/>
              </a:rPr>
              <a:t>Simulation result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5B1385DF-A4CD-E7C8-4F97-553C21B2E9F9}"/>
              </a:ext>
            </a:extLst>
          </p:cNvPr>
          <p:cNvSpPr/>
          <p:nvPr>
            <p:custDataLst>
              <p:tags r:id="rId107"/>
            </p:custDataLst>
          </p:nvPr>
        </p:nvSpPr>
        <p:spPr bwMode="auto">
          <a:xfrm>
            <a:off x="7989888" y="1243013"/>
            <a:ext cx="541338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400" b="1" dirty="0">
                <a:solidFill>
                  <a:schemeClr val="tx1"/>
                </a:solidFill>
                <a:effectLst/>
              </a:rPr>
              <a:t>Status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 useBgFill="1">
        <p:nvSpPr>
          <p:cNvPr id="434" name="Rectangle 433">
            <a:extLst>
              <a:ext uri="{FF2B5EF4-FFF2-40B4-BE49-F238E27FC236}">
                <a16:creationId xmlns:a16="http://schemas.microsoft.com/office/drawing/2014/main" id="{14AF3114-6787-B71B-9B18-05FCAD510880}"/>
              </a:ext>
            </a:extLst>
          </p:cNvPr>
          <p:cNvSpPr/>
          <p:nvPr>
            <p:custDataLst>
              <p:tags r:id="rId108"/>
            </p:custDataLst>
          </p:nvPr>
        </p:nvSpPr>
        <p:spPr bwMode="auto">
          <a:xfrm>
            <a:off x="4318000" y="3344863"/>
            <a:ext cx="1198563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tx1"/>
                </a:solidFill>
              </a:rPr>
              <a:t>Proposed method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41946930-AE7E-DF88-1B3E-05AA316C8F8D}"/>
              </a:ext>
            </a:extLst>
          </p:cNvPr>
          <p:cNvSpPr/>
          <p:nvPr>
            <p:custDataLst>
              <p:tags r:id="rId109"/>
            </p:custDataLst>
          </p:nvPr>
        </p:nvSpPr>
        <p:spPr bwMode="auto">
          <a:xfrm>
            <a:off x="104775" y="1243013"/>
            <a:ext cx="639763" cy="24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fld id="{B8AF5E1D-A166-434E-BF6A-5BCFA8EB1E0C}" type="datetime'''''''''A''''c''''t''''''''''iv''i''''''ty'''''''''''''''">
              <a:rPr lang="en-US" altLang="en-US" sz="1400" b="1" smtClean="0">
                <a:solidFill>
                  <a:schemeClr val="tx1"/>
                </a:solidFill>
                <a:effectLst/>
              </a:rPr>
              <a:pPr>
                <a:lnSpc>
                  <a:spcPct val="114000"/>
                </a:lnSpc>
              </a:pPr>
              <a:t>Activity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 useBgFill="1">
        <p:nvSpPr>
          <p:cNvPr id="440" name="Rectangle 439">
            <a:extLst>
              <a:ext uri="{FF2B5EF4-FFF2-40B4-BE49-F238E27FC236}">
                <a16:creationId xmlns:a16="http://schemas.microsoft.com/office/drawing/2014/main" id="{E02F45D7-4790-E247-695C-54E98F5C1BBD}"/>
              </a:ext>
            </a:extLst>
          </p:cNvPr>
          <p:cNvSpPr/>
          <p:nvPr>
            <p:custDataLst>
              <p:tags r:id="rId110"/>
            </p:custDataLst>
          </p:nvPr>
        </p:nvSpPr>
        <p:spPr bwMode="auto">
          <a:xfrm>
            <a:off x="5835650" y="3344863"/>
            <a:ext cx="850900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1200" dirty="0" err="1">
                <a:solidFill>
                  <a:schemeClr val="tx1"/>
                </a:solidFill>
                <a:effectLst/>
              </a:rPr>
              <a:t>Comparision</a:t>
            </a:r>
            <a:endParaRPr lang="en-US" sz="1200" dirty="0">
              <a:solidFill>
                <a:schemeClr val="tx1"/>
              </a:solidFill>
            </a:endParaRPr>
          </a:p>
        </p:txBody>
      </p:sp>
      <p:sp useBgFill="1">
        <p:nvSpPr>
          <p:cNvPr id="410" name="Rectangle 409">
            <a:extLst>
              <a:ext uri="{FF2B5EF4-FFF2-40B4-BE49-F238E27FC236}">
                <a16:creationId xmlns:a16="http://schemas.microsoft.com/office/drawing/2014/main" id="{D1DD76F5-C2DD-5B91-E12D-AC5FCF95A3F9}"/>
              </a:ext>
            </a:extLst>
          </p:cNvPr>
          <p:cNvSpPr/>
          <p:nvPr>
            <p:custDataLst>
              <p:tags r:id="rId111"/>
            </p:custDataLst>
          </p:nvPr>
        </p:nvSpPr>
        <p:spPr bwMode="auto">
          <a:xfrm>
            <a:off x="1270000" y="2565400"/>
            <a:ext cx="887413" cy="207963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en-US" sz="1200" dirty="0">
                <a:solidFill>
                  <a:schemeClr val="tx1"/>
                </a:solidFill>
              </a:rPr>
              <a:t>MMC DC-AC</a:t>
            </a:r>
          </a:p>
        </p:txBody>
      </p:sp>
    </p:spTree>
    <p:extLst>
      <p:ext uri="{BB962C8B-B14F-4D97-AF65-F5344CB8AC3E}">
        <p14:creationId xmlns:p14="http://schemas.microsoft.com/office/powerpoint/2010/main" val="4260988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760034-56A5-C329-D2C6-5CA293DC46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4224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317500" y="963611"/>
            <a:ext cx="8508999" cy="376238"/>
          </a:xfrm>
        </p:spPr>
        <p:txBody>
          <a:bodyPr vert="horz" rIns="0"/>
          <a:lstStyle/>
          <a:p>
            <a:r>
              <a:rPr lang="en-US" sz="3600" dirty="0"/>
              <a:t>Thank You &amp; Questions</a:t>
            </a:r>
            <a:endParaRPr lang="en-US" sz="480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BC8FC58-D26F-C1D8-1AD6-E02995F8E38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Presenter: Haoheng Li</a:t>
            </a:r>
          </a:p>
          <a:p>
            <a:r>
              <a:rPr lang="en-US" dirty="0"/>
              <a:t>Supervisor: Dr. Gean Maia de Sousa</a:t>
            </a:r>
          </a:p>
          <a:p>
            <a:r>
              <a:rPr lang="en-US" dirty="0"/>
              <a:t>Technical University of Munich</a:t>
            </a:r>
          </a:p>
          <a:p>
            <a:r>
              <a:rPr lang="en-US" dirty="0"/>
              <a:t>12, Dec, 2025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33&quot;/&gt;&lt;CPresentation id=&quot;1&quot;&gt;&lt;m_precDefaultOrdinal&gt;&lt;m_yearfmt&gt;&lt;begin val=&quot;0&quot;/&gt;&lt;end val=&quot;4&quot;/&gt;&lt;/m_yearfmt&gt;&lt;/m_precDefaultOrdinal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68N46t40y5LWD.8vr22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_HYgXxrKbe2v8ulQZqL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654f00FxsqTWZ0HoeI9g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XEwX8hzyX8xfgoQfLDz0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TuOvU7VwjEyMXtauBcq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WGNEXFMbJKrzozggHVhY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mlLPDiP3Hh94LHlAL7V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rL7.hlegRvUoEAwehp1_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fpMMufUwZuVpEtygoLt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nhN7W14kIzO2eXRTdNE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1d92WF4tIErQbdxbiXMw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JvmyXjudDjTl0Um7dhs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WpSsXN6yLS3h410Leui6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VeH9eKZCYyZJ3vhKTYaI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FRBBmNj2byKedzcPiyk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mErJYd_l0IAcvXvFF9f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SSz5d_z1FAnaXFwM1yF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ehDX8BsPg2KKx5jMQZr4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ZoVEtitpqgUgqSN0pzz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6SNGFEn_VrrC_CC3jk2p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f5dstubR_Q8o2vB97cZ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2wdaPHGyUg6BSxq13jo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DAThSdmiFRJQHfPxf6B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6LBVGIQejAOghcRL8rS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tQ2h_yw6fJ0dKJl1qgz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J.kRWE3yHzzx728VYtC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S9SG6lCelNhNP1BvJ3M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YIbqetJZ89NRUk3MuPB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9kmAEv0J9M6oXNFgRxSl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VIRcfNnbfqR1.qGAsyi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v2jDVZGfMwfgBH62Pem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nP1_8D1VQfKWuTIMY3v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Caucw2g9CXQKLObVX3T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Yc4csRCk8uc4WVD6Bq2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941HmCuP8oRtFzDTOvV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4_akf5BSxoWuQwQkC5E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ZTfIktFy_4zHr7Q76BD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8B2.a4uh3WgJn1kSOgr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VjwL2vhxQmHusmE8inY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IdZY8E_11geH82LYtCD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fvfuVXCGkQQJ5HJywFk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k3LeYYIF4SRbOtH_jhp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gQF55NCGfJyizcv9PEs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ylyjPaLfhP4veDa3NbC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qqdXltrGeFGw5BO._db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fsLh8C1MkN6uwcqQxPE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9S85FY5iQ0ZDUzwTZBct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mjfxpuUDqvJ2W59xFVe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zzEdlBdErBmVhSGfi_q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hexlDNZOCdbbw.3IljM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VNCDKOuOqqwaPZtrTR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oJixMzqbAajD9llb3WN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0JtINkmcPFJYZXtD_Rqq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AXZUSxoiHzxoXUthBt0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FgkBDrcPtOeUI05YU0K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C6ehwSlwl5GvXFr2xxM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SHEaFfVQuMlppBBulpd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23COuge77qbOb_qrbFd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.nnaCdZcQIZS.Dp73l7R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7CT8vfbdYNHjrWkf0mm5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oGFrwUR3iPtWEEtnn5dv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s_.AgMQxk8dSg8bXz8m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XpOtnFOLLwGeH2lgdVxl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i7a5J3j8Ow0mfgUqDQo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CH1BTNaImHEpd4SZZmO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n765kcCsDCGO2nIzIyu5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KkjSevShVzcPZheP4bQL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1gzZrGmbg1cX590meAO_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bvvj_IvrgaLXfx8.ToaH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yYbCDTxCF_Rwx3czHP5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Pesns__NESJLol0JgJ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PZAX3ZoM29.zQRKopjf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1JGTDuX3Y99C4u9XV2_8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ZNMoQ3UaZYrxcmfX448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7s_KBTyM4ckrkWxzmKe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7OS5lBxXOTkcKbbnlan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VVI8sKDme3O0at23K4b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w_vB6I38pQLFmovS9oN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xee_C_FkqZJ4V8eYeuz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MxW_vw0hBinJv1EgCiv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C7qCwMFmyZOwYvmVzsA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6xr_4l4JiVYkrM_SMWR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HBXFzRp_S0yb5Kks5dB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QdcvBHaZWFHiSoq1Cl3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1dPEjutnouLhG3fHhGIP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V1TBSMsYLEUGPyoIG6B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ekhZQ1N2IegBDqyCO.G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3CFOiXzsXqhXX2iQIZ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hj.HtBmtYieMQP.aW3jD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JdPC40KwG0VTB2q3a40y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QpuJ1Fg2nar.ckie8ir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igxxT3jkqz7DjSfv9g5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Df3eAoVr22_APU9ESm8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jwA9F.P8nLc9997tuj4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AvZg4meZDROe4VWiOhd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l9anWJZ63tHyAASPVDf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m8cmee02466KWNww7a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mxKpWYB94AeJiSNaR.U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GwjuXmJSePqd8lllpsz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1QtWmkcT.0uYEcbZVBJP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1Oa_lDPpO7VO6vkLPoj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Fhl99i7fBfSaubsJv9L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OCABfd7Tk3af5vTYOVcPQ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O5dCizyPxFISO.RSwXK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dNOYoykwH4pKOtu7AR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k9Qci7Ec3Sm78mZ25Ey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ro_ica_PRxz0djLsU_N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VtHcMhHOVbmiVTmx64t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hMGQeU8tfRcLYnRcj4j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6eWbzpQiWyQroE.7i.l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21285</TotalTime>
  <Words>724</Words>
  <Application>Microsoft Macintosh PowerPoint</Application>
  <PresentationFormat>On-screen Show (16:9)</PresentationFormat>
  <Paragraphs>144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Arial</vt:lpstr>
      <vt:lpstr>Calibri</vt:lpstr>
      <vt:lpstr>Cambria Math</vt:lpstr>
      <vt:lpstr>Courier New</vt:lpstr>
      <vt:lpstr>Helvetica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think-cell Slide</vt:lpstr>
      <vt:lpstr>Master Thesis Initial Report - Research on Modulation and Control Optimization for MMC-SST</vt:lpstr>
      <vt:lpstr>Outline</vt:lpstr>
      <vt:lpstr>What is SST and its application </vt:lpstr>
      <vt:lpstr>What is SST and its application</vt:lpstr>
      <vt:lpstr>Outline</vt:lpstr>
      <vt:lpstr>Topology Analysis -Mudular Multilevel Converter (MMC)-SST</vt:lpstr>
      <vt:lpstr>Existed Modulation Method</vt:lpstr>
      <vt:lpstr>Outline</vt:lpstr>
      <vt:lpstr>Objectives</vt:lpstr>
      <vt:lpstr>Methodology</vt:lpstr>
      <vt:lpstr>Expected Outcome</vt:lpstr>
      <vt:lpstr>Timeline</vt:lpstr>
      <vt:lpstr>Thank You &amp; Questions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Haoheng Li</cp:lastModifiedBy>
  <cp:revision>146</cp:revision>
  <cp:lastPrinted>2015-07-30T14:04:45Z</cp:lastPrinted>
  <dcterms:created xsi:type="dcterms:W3CDTF">2020-10-03T23:03:33Z</dcterms:created>
  <dcterms:modified xsi:type="dcterms:W3CDTF">2025-12-06T21:32:17Z</dcterms:modified>
</cp:coreProperties>
</file>